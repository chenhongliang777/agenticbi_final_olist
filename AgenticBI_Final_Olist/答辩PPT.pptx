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各位老师、同学大家好，我们小组的项目是基于巴西 Olist 电商数据集的 Agentic BI 分析系统。</a:t>
            </a:r>
            <a:endParaRPr lang="zh-CN" dirty="0"/>
          </a:p>
          <a:p>
            <a:r>
              <a:rPr lang="zh-CN" dirty="0"/>
              <a:t>我负责成员 D 的最终整合部分，今天会从项目目标、系统架构、核心能力、演示逻辑和最终交付五个角度进行汇报。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这次答辩我会先说明业务问题和整体方案，再介绍数据层、预聚合层和多 Agent 编排。</a:t>
            </a:r>
            <a:endParaRPr lang="zh-CN" dirty="0"/>
          </a:p>
          <a:p>
            <a:r>
              <a:rPr lang="zh-CN" dirty="0"/>
              <a:t>中间部分重点展示系统如何回答描述性、诊断型和策略型问题，最后总结项目复盘、后续计划和提交材料。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 BI 看板适合固定指标监控，但业务同学经常会继续追问原因、对比和行动建议。</a:t>
            </a:r>
            <a:endParaRPr lang="zh-CN" dirty="0"/>
          </a:p>
          <a:p>
            <a:r>
              <a:rPr lang="zh-CN" dirty="0"/>
              <a:t>所以我们的目标不是只做一个图表页面，而是让用户用自然语言完成从提问到分析结果的闭环。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系统整体分成四层：底层是 Olist 原始数据和 SQLite 数据库，中间是预聚合视图，上层是多个 Agent 的任务协作，最外层是 Streamlit Web 交互。</a:t>
            </a:r>
            <a:endParaRPr lang="zh-CN" dirty="0"/>
          </a:p>
          <a:p>
            <a:r>
              <a:rPr lang="zh-CN" dirty="0"/>
              <a:t>这种设计让复杂问题可以被拆成 SQL 查询、结果解释、图表生成和上下文记忆等子任务。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数据层先把九张原始表清洗入库，再针对高频业务问题建立预聚合视图。</a:t>
            </a:r>
            <a:endParaRPr lang="zh-CN" dirty="0"/>
          </a:p>
          <a:p>
            <a:r>
              <a:rPr lang="zh-CN" dirty="0"/>
              <a:t>这样既保留了明细数据的追溯能力，也让常见分析问题可以更快返回结果，为现场演示提供稳定基础。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性能优化是项目里非常关键的一步，直接查询明细表时，多表关联会明显拖慢响应。</a:t>
            </a:r>
            <a:endParaRPr lang="zh-CN" dirty="0"/>
          </a:p>
          <a:p>
            <a:r>
              <a:rPr lang="zh-CN" dirty="0"/>
              <a:t>我们把月度 GMV、州别销售、配送表现等指标沉淀为视图后，典型查询获得了数量级上的加速，这也是系统能够支持交互式问答的原因之一。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部分由 Coordinator 统一接收用户问题，再根据意图路由到 SQL Agent、Visualization Agent、Insight Agent 或其他工具。</a:t>
            </a:r>
            <a:endParaRPr lang="zh-CN" dirty="0"/>
          </a:p>
          <a:p>
            <a:r>
              <a:rPr lang="zh-CN" dirty="0"/>
              <a:t>这样做的好处是每个 Agent 只处理自己擅长的任务，同时共享状态里会记录问题、结果和生成资产。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在真实使用中，用户很少只问一个孤立问题，常见情况是先问整体，再追问某个州、某个品类或某种支付方式。</a:t>
            </a:r>
            <a:endParaRPr lang="zh-CN" dirty="0"/>
          </a:p>
          <a:p>
            <a:r>
              <a:rPr lang="zh-CN" dirty="0"/>
              <a:t>因此系统加入了 MemorySaver 和显式历史，把上一轮问题、SQL、结果摘要和图表路径保留下来，让后续追问不会丢上下文。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现场演示设计成三类问题：第一类是描述性分析，证明系统能快速概览经营现状。</a:t>
            </a:r>
            <a:endParaRPr lang="zh-CN" dirty="0"/>
          </a:p>
          <a:p>
            <a:r>
              <a:rPr lang="zh-CN" dirty="0"/>
              <a:t>第二类是诊断型分析，证明系统能解释问题背后的原因；第三类是策略型分析，用来展示 What-if 和异常检测等扩展能力。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这一页对应描述性问题，例如“各州销售额如何分布”或“哪些州贡献最高 GMV”。</a:t>
            </a:r>
            <a:endParaRPr lang="zh-CN" dirty="0"/>
          </a:p>
          <a:p>
            <a:r>
              <a:rPr lang="zh-CN" dirty="0"/>
              <a:t>系统会优先命中州级销售视图，返回图表和解释，帮助用户从宏观层面快速识别重点市场。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支付热力图展示的是支付方式和分期期数之间的关系。</a:t>
            </a:r>
            <a:endParaRPr lang="zh-CN" dirty="0"/>
          </a:p>
          <a:p>
            <a:r>
              <a:rPr lang="zh-CN" dirty="0"/>
              <a:t>从业务解释上看，信用卡和分期是 Olist 场景里的核心支付行为，因此后续可以围绕高客单价品类设计分期营销策略。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诊断型问题关注的不只是结果，而是为什么会出现某类异常。</a:t>
            </a:r>
            <a:endParaRPr lang="zh-CN" dirty="0"/>
          </a:p>
          <a:p>
            <a:r>
              <a:rPr lang="zh-CN" dirty="0"/>
              <a:t>以配送时效为例，系统先定位延迟天数分布，再联动卖家、州别和品类字段，最终把发现转化为运营干预建议。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评分和品类热力图帮助我们判断哪些品类更容易引发低评分。</a:t>
            </a:r>
            <a:endParaRPr lang="zh-CN" dirty="0"/>
          </a:p>
          <a:p>
            <a:r>
              <a:rPr lang="zh-CN" dirty="0"/>
              <a:t>答辩时我会强调，这类图表不只是展示满意度，还能指导客服、履约和卖家治理的优先级排序。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在基础问答之外，系统还保留了 What-if 推演和异常检测两类加分能力。</a:t>
            </a:r>
            <a:endParaRPr lang="zh-CN" dirty="0"/>
          </a:p>
          <a:p>
            <a:r>
              <a:rPr lang="zh-CN" dirty="0"/>
              <a:t>What-if 用来回答策略变化可能带来的影响，异常检测则把延迟、运费或评分里的异常点作为下一轮追问入口。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这页汇总了系统目前覆盖的主要可视化类型，包括州别 GMV、品类销售、区域客单价和物流成本关系。</a:t>
            </a:r>
            <a:endParaRPr lang="zh-CN" dirty="0"/>
          </a:p>
          <a:p>
            <a:r>
              <a:rPr lang="zh-CN" dirty="0"/>
              <a:t>不同图形对应不同业务视角，说明 Dashboard Agent 能根据问题选择合适表达方式，而不是固定输出同一种图表。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项目过程中主要遇到三个挑战：明细查询慢、自然语言问题有歧义、图表输出需要可控。</a:t>
            </a:r>
            <a:endParaRPr lang="zh-CN" dirty="0"/>
          </a:p>
          <a:p>
            <a:r>
              <a:rPr lang="zh-CN" dirty="0"/>
              <a:t>对应的处理方式分别是预聚合视图、Coordinator 状态编排和 Visualization Agent 规则化输出，这些修正让系统更稳定、也更容易复现。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如果继续迭代，我们计划分三个月推进：第一个月完善数据刷新和质量检查，第二个月强化意图识别和失败回退，第三个月把分析建议沉淀为业务任务和复盘指标。</a:t>
            </a:r>
            <a:endParaRPr lang="zh-CN" dirty="0"/>
          </a:p>
          <a:p>
            <a:r>
              <a:rPr lang="zh-CN" dirty="0"/>
              <a:t>最终目标是让业务同学用自然语言完成发现、解释、行动和复盘的完整链路。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最后总结一下，本项目把 Olist 电商数据从静态报表推进到可交互、可追问、可行动的 Agentic BI 原型。</a:t>
            </a:r>
            <a:endParaRPr lang="zh-CN" dirty="0"/>
          </a:p>
          <a:p>
            <a:r>
              <a:rPr lang="zh-CN" dirty="0"/>
              <a:t>成员 D 的整合交付包括项目报告、答辩 PPT、讲稿、README、架构图、排练记录和提交清单，以上就是我的汇报，谢谢大家。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685800"/>
            <a:ext cx="10858500" cy="5791200"/>
            <a:chOff x="571500" y="685800"/>
            <a:chExt cx="10858500" cy="5791200"/>
          </a:xfrm>
        </p:grpSpPr>
        <p:sp>
          <p:nvSpPr>
            <p:cNvPr id="3" name="Freeform 3"/>
            <p:cNvSpPr/>
            <p:nvPr/>
          </p:nvSpPr>
          <p:spPr>
            <a:xfrm>
              <a:off x="762000" y="914400"/>
              <a:ext cx="10668000" cy="4572000"/>
            </a:xfrm>
            <a:custGeom>
              <a:avLst/>
              <a:gdLst/>
              <a:ahLst/>
              <a:cxnLst/>
              <a:rect l="l" t="t" r="r" b="b"/>
              <a:pathLst>
                <a:path w="10668000" h="4572000">
                  <a:moveTo>
                    <a:pt x="0" y="0"/>
                  </a:moveTo>
                  <a:lnTo>
                    <a:pt x="10668000" y="0"/>
                  </a:lnTo>
                  <a:moveTo>
                    <a:pt x="0" y="762000"/>
                  </a:moveTo>
                  <a:lnTo>
                    <a:pt x="10668000" y="762000"/>
                  </a:lnTo>
                  <a:moveTo>
                    <a:pt x="0" y="1524000"/>
                  </a:moveTo>
                  <a:lnTo>
                    <a:pt x="10668000" y="1524000"/>
                  </a:lnTo>
                  <a:moveTo>
                    <a:pt x="0" y="2286000"/>
                  </a:moveTo>
                  <a:lnTo>
                    <a:pt x="10668000" y="2286000"/>
                  </a:lnTo>
                  <a:moveTo>
                    <a:pt x="0" y="3048000"/>
                  </a:moveTo>
                  <a:lnTo>
                    <a:pt x="10668000" y="3048000"/>
                  </a:lnTo>
                  <a:moveTo>
                    <a:pt x="0" y="3810000"/>
                  </a:moveTo>
                  <a:lnTo>
                    <a:pt x="10668000" y="3810000"/>
                  </a:lnTo>
                  <a:moveTo>
                    <a:pt x="0" y="4572000"/>
                  </a:moveTo>
                  <a:lnTo>
                    <a:pt x="10668000" y="4572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6E0EA">
                  <a:alpha val="55000"/>
                </a:srgbClr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1524000" y="685800"/>
              <a:ext cx="9144000" cy="5410200"/>
            </a:xfrm>
            <a:custGeom>
              <a:avLst/>
              <a:gdLst/>
              <a:ahLst/>
              <a:cxnLst/>
              <a:rect l="l" t="t" r="r" b="b"/>
              <a:pathLst>
                <a:path w="9144000" h="5410200">
                  <a:moveTo>
                    <a:pt x="0" y="0"/>
                  </a:moveTo>
                  <a:lnTo>
                    <a:pt x="0" y="5410200"/>
                  </a:lnTo>
                  <a:moveTo>
                    <a:pt x="1524000" y="0"/>
                  </a:moveTo>
                  <a:lnTo>
                    <a:pt x="1524000" y="5410200"/>
                  </a:lnTo>
                  <a:moveTo>
                    <a:pt x="3048000" y="0"/>
                  </a:moveTo>
                  <a:lnTo>
                    <a:pt x="3048000" y="5410200"/>
                  </a:lnTo>
                  <a:moveTo>
                    <a:pt x="4572000" y="0"/>
                  </a:moveTo>
                  <a:lnTo>
                    <a:pt x="4572000" y="5410200"/>
                  </a:lnTo>
                  <a:moveTo>
                    <a:pt x="6096000" y="0"/>
                  </a:moveTo>
                  <a:lnTo>
                    <a:pt x="6096000" y="5410200"/>
                  </a:lnTo>
                  <a:moveTo>
                    <a:pt x="7620000" y="0"/>
                  </a:moveTo>
                  <a:lnTo>
                    <a:pt x="7620000" y="5410200"/>
                  </a:lnTo>
                  <a:moveTo>
                    <a:pt x="9144000" y="0"/>
                  </a:moveTo>
                  <a:lnTo>
                    <a:pt x="9144000" y="54102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6E0EA">
                  <a:alpha val="42000"/>
                </a:srgb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9467850" y="704850"/>
              <a:ext cx="1638300" cy="1638300"/>
            </a:xfrm>
            <a:prstGeom prst="ellipse">
              <a:avLst/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571500" y="4191000"/>
              <a:ext cx="2286000" cy="2286000"/>
            </a:xfrm>
            <a:prstGeom prst="ellipse">
              <a:avLst/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762000" y="1123950"/>
            <a:ext cx="10668000" cy="3714750"/>
            <a:chOff x="762000" y="1123950"/>
            <a:chExt cx="10668000" cy="3714750"/>
          </a:xfrm>
        </p:grpSpPr>
        <p:sp>
          <p:nvSpPr>
            <p:cNvPr id="8" name="Rectangle 8"/>
            <p:cNvSpPr/>
            <p:nvPr/>
          </p:nvSpPr>
          <p:spPr>
            <a:xfrm>
              <a:off x="762000" y="1123950"/>
              <a:ext cx="10668000" cy="371475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123950"/>
              <a:ext cx="95250" cy="3714750"/>
            </a:xfrm>
            <a:prstGeom prst="rect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15390" y="1758315"/>
              <a:ext cx="293148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Agentic BI Final Defense</a:t>
              </a:r>
              <a:endParaRPr lang="zh-CN" sz="180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5385" y="2246948"/>
              <a:ext cx="567042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多表电商运营分析</a:t>
              </a:r>
              <a:endParaRPr lang="zh-CN" sz="49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6815" y="3068002"/>
              <a:ext cx="407236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与决策智能系统</a:t>
              </a:r>
              <a:endParaRPr lang="zh-CN" sz="40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5390" y="3901440"/>
              <a:ext cx="866279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 Olist 巴西电商数据集 · MySQL 预聚合 · LangGraph 多 Agent · Streamlit</a:t>
              </a:r>
              <a:endParaRPr lang="zh-CN" sz="18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8250" y="5219700"/>
            <a:ext cx="6210300" cy="400050"/>
            <a:chOff x="1238250" y="5219700"/>
            <a:chExt cx="6210300" cy="400050"/>
          </a:xfrm>
        </p:grpSpPr>
        <p:sp>
          <p:nvSpPr>
            <p:cNvPr id="15" name="Rectangle 15"/>
            <p:cNvSpPr/>
            <p:nvPr/>
          </p:nvSpPr>
          <p:spPr>
            <a:xfrm>
              <a:off x="1238250" y="5219700"/>
              <a:ext cx="1809750" cy="40005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69885" y="53406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Pre-Aggregation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238500" y="5219700"/>
              <a:ext cx="1409700" cy="4000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58372" y="5340668"/>
              <a:ext cx="9699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LangGraph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838700" y="5219700"/>
              <a:ext cx="1257300" cy="400050"/>
            </a:xfrm>
            <a:prstGeom prst="roundRect">
              <a:avLst>
                <a:gd name="adj" fmla="val 50000"/>
              </a:avLst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05237" y="5340668"/>
              <a:ext cx="7242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NLP / BI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86500" y="52197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2994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23552" y="5340668"/>
              <a:ext cx="4879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Demo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0982325" y="6409690"/>
            <a:ext cx="4603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01 / 18</a:t>
            </a:r>
            <a:endParaRPr lang="zh-CN" sz="97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388620"/>
            <a:ext cx="11079480" cy="802005"/>
            <a:chOff x="541020" y="388620"/>
            <a:chExt cx="11079480" cy="802005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388620"/>
              <a:ext cx="76723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 分钟答辩围绕“数据、Agent、Demo、决策”展开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6260" y="84201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从业务问题出发，最终落到可运行系统和运营策略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181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6E0EA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66750" y="1524000"/>
            <a:ext cx="10858500" cy="4000500"/>
            <a:chOff x="666750" y="1524000"/>
            <a:chExt cx="10858500" cy="4000500"/>
          </a:xfrm>
        </p:grpSpPr>
        <p:sp>
          <p:nvSpPr>
            <p:cNvPr id="7" name="Rectangle 7"/>
            <p:cNvSpPr/>
            <p:nvPr/>
          </p:nvSpPr>
          <p:spPr>
            <a:xfrm>
              <a:off x="666750" y="1524000"/>
              <a:ext cx="10858500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28700" y="1814036"/>
              <a:ext cx="3818382" cy="567214"/>
              <a:chOff x="1028700" y="1814036"/>
              <a:chExt cx="3818382" cy="567214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1028700" y="1847850"/>
                <a:ext cx="457200" cy="457200"/>
              </a:xfrm>
              <a:prstGeom prst="ellipse">
                <a:avLst/>
              </a:prstGeom>
              <a:solidFill>
                <a:srgbClr val="2F80ED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88174" y="20069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73542" y="1814036"/>
                <a:ext cx="173452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背景与数据挑战</a:t>
                </a:r>
                <a:endPara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680210" y="2137410"/>
                <a:ext cx="31668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Olist 9 表、多维业务链路、固定看板的局限</a:t>
                </a:r>
                <a:endPara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028700" y="2556986"/>
              <a:ext cx="4626483" cy="567214"/>
              <a:chOff x="1028700" y="2556986"/>
              <a:chExt cx="4626483" cy="567214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1028700" y="2590800"/>
                <a:ext cx="457200" cy="4572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88174" y="27498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73542" y="2556986"/>
                <a:ext cx="100993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系统架构</a:t>
                </a:r>
                <a:endPara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680210" y="2880360"/>
                <a:ext cx="39749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数据层、预聚合层、多 Agent 层、Web UI 的端到端链路</a:t>
                </a:r>
                <a:endPara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028700" y="3299936"/>
              <a:ext cx="3818382" cy="567214"/>
              <a:chOff x="1028700" y="3299936"/>
              <a:chExt cx="3818382" cy="567214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1028700" y="3333750"/>
                <a:ext cx="457200" cy="457200"/>
              </a:xfrm>
              <a:prstGeom prst="ellipse">
                <a:avLst/>
              </a:prstGeom>
              <a:solidFill>
                <a:srgbClr val="F2994A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88174" y="34928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73542" y="3299936"/>
                <a:ext cx="1251466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预聚合加速</a:t>
                </a:r>
                <a:endPara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80210" y="3623310"/>
                <a:ext cx="31668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同一月度 GMV 查询：原始 JOIN vs 物化视图</a:t>
                </a:r>
                <a:endPara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1028700" y="4042886"/>
              <a:ext cx="4770501" cy="567214"/>
              <a:chOff x="1028700" y="4042886"/>
              <a:chExt cx="4770501" cy="567214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1028700" y="4076700"/>
                <a:ext cx="457200" cy="457200"/>
              </a:xfrm>
              <a:prstGeom prst="ellipse">
                <a:avLst/>
              </a:prstGeom>
              <a:solidFill>
                <a:srgbClr val="2F80ED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88174" y="423576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73542" y="4042886"/>
                <a:ext cx="1577532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 Agent 协作</a:t>
                </a:r>
                <a:endPara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0210" y="4366260"/>
                <a:ext cx="41189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Coordinator 规划、条件路由、MemorySaver、多轮追问</a:t>
                </a:r>
                <a:endPara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028700" y="4785836"/>
              <a:ext cx="4378452" cy="567214"/>
              <a:chOff x="1028700" y="4785836"/>
              <a:chExt cx="4378452" cy="567214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1028700" y="4819650"/>
                <a:ext cx="457200" cy="4572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88174" y="4978718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673542" y="4785836"/>
                <a:ext cx="1903597" cy="350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72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Demo 与决策建议</a:t>
                </a:r>
                <a:endPara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80210" y="5109210"/>
                <a:ext cx="372694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三类现场问题验证描述、诊断、What-if 和运营策略</a:t>
                </a:r>
                <a:endPara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8191500" y="1847850"/>
            <a:ext cx="2857500" cy="3086100"/>
            <a:chOff x="8191500" y="1847850"/>
            <a:chExt cx="2857500" cy="3086100"/>
          </a:xfrm>
        </p:grpSpPr>
        <p:sp>
          <p:nvSpPr>
            <p:cNvPr id="34" name="Rectangle 34"/>
            <p:cNvSpPr/>
            <p:nvPr/>
          </p:nvSpPr>
          <p:spPr>
            <a:xfrm>
              <a:off x="8191500" y="1847850"/>
              <a:ext cx="2857500" cy="3086100"/>
            </a:xfrm>
            <a:prstGeom prst="roundRect">
              <a:avLst>
                <a:gd name="adj" fmla="val 5333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73440" y="2044065"/>
              <a:ext cx="119275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 页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98205" y="26355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覆盖最终提交要求</a:t>
              </a:r>
              <a:endParaRPr lang="zh-CN" sz="135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8515350" y="306705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noFill/>
            <a:ln w="9525">
              <a:solidFill>
                <a:srgbClr val="D6E0EA">
                  <a:alpha val="50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98205" y="3321368"/>
              <a:ext cx="8443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8-10 分钟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98205" y="3664268"/>
              <a:ext cx="12134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个现场 Demo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98205" y="4007168"/>
              <a:ext cx="10874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条决策闭环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24140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7524750"/>
            <a:chOff x="0" y="0"/>
            <a:chExt cx="12192000" cy="75247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5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477250" y="95250"/>
              <a:ext cx="2857500" cy="2857500"/>
            </a:xfrm>
            <a:prstGeom prst="ellipse">
              <a:avLst/>
            </a:prstGeom>
            <a:solidFill>
              <a:srgbClr val="2F80ED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762000" y="4286250"/>
              <a:ext cx="3238500" cy="3238500"/>
            </a:xfrm>
            <a:prstGeom prst="ellipse">
              <a:avLst/>
            </a:prstGeom>
            <a:solidFill>
              <a:srgbClr val="00A6A6">
                <a:alpha val="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17245" y="860108"/>
            <a:ext cx="7131891" cy="954404"/>
            <a:chOff x="817245" y="860108"/>
            <a:chExt cx="7131891" cy="954404"/>
          </a:xfrm>
        </p:grpSpPr>
        <p:sp>
          <p:nvSpPr>
            <p:cNvPr id="7" name="TextBox 7"/>
            <p:cNvSpPr txBox="1"/>
            <p:nvPr/>
          </p:nvSpPr>
          <p:spPr>
            <a:xfrm>
              <a:off x="817245" y="860108"/>
              <a:ext cx="625478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固定看板无法覆盖复杂运营追问</a:t>
              </a:r>
              <a:endParaRPr lang="zh-CN" sz="31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5345" y="1479232"/>
              <a:ext cx="70937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Agentic BI 的价值，在于让系统主动规划分析，而不是只展示预设图表。</a:t>
              </a:r>
              <a:endParaRPr lang="zh-CN" sz="165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28750" y="2186940"/>
            <a:ext cx="9660644" cy="3032760"/>
            <a:chOff x="1428750" y="2186940"/>
            <a:chExt cx="9660644" cy="3032760"/>
          </a:xfrm>
        </p:grpSpPr>
        <p:sp>
          <p:nvSpPr>
            <p:cNvPr id="10" name="Line 10"/>
            <p:cNvSpPr/>
            <p:nvPr/>
          </p:nvSpPr>
          <p:spPr>
            <a:xfrm>
              <a:off x="1428750" y="26670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19050">
              <a:solidFill>
                <a:srgbClr val="D6E0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00050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noFill/>
            <a:ln w="19050">
              <a:solidFill>
                <a:srgbClr val="D6E0EA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596390" y="2186940"/>
              <a:ext cx="8719662" cy="366077"/>
              <a:chOff x="1596390" y="2186940"/>
              <a:chExt cx="8719662" cy="366077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596390" y="2186940"/>
                <a:ext cx="83961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传统 BI</a:t>
                </a:r>
                <a:endParaRPr lang="zh-CN" sz="18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08045" y="2203132"/>
                <a:ext cx="246221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只能回答已设计好的维度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732270" y="2217737"/>
                <a:ext cx="11392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Agentic BI</a:t>
                </a:r>
                <a:endParaRPr lang="zh-CN" sz="16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733949" y="2203132"/>
                <a:ext cx="158210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自动拆解新问题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596390" y="3520440"/>
              <a:ext cx="9005697" cy="365760"/>
              <a:chOff x="1596390" y="3520440"/>
              <a:chExt cx="9005697" cy="365760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96390" y="35204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多表查询</a:t>
                </a:r>
                <a:endParaRPr lang="zh-CN" sz="18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408045" y="3536632"/>
                <a:ext cx="240720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实时 JOIN 容易拖慢交互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732270" y="3529647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预聚合层</a:t>
                </a:r>
                <a:endParaRPr lang="zh-CN" sz="16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47913" y="3536632"/>
                <a:ext cx="215417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高频指标直接 SELECT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596390" y="4839652"/>
              <a:ext cx="9493004" cy="380048"/>
              <a:chOff x="1596390" y="4839652"/>
              <a:chExt cx="9493004" cy="380048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596390" y="4853940"/>
                <a:ext cx="1053846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业务追问</a:t>
                </a:r>
                <a:endParaRPr lang="zh-CN" sz="18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08045" y="4870132"/>
                <a:ext cx="29022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需要上下文、解释和行动建议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70370" y="4841557"/>
                <a:ext cx="97757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 Agent</a:t>
                </a:r>
                <a:endParaRPr lang="zh-CN" sz="16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264136" y="4839652"/>
                <a:ext cx="282525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查询、预测、NLP、决策协同</a:t>
                </a:r>
                <a:endParaRPr lang="zh-CN" sz="16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2381250" y="5657850"/>
            <a:ext cx="7429500" cy="495300"/>
            <a:chOff x="2381250" y="5657850"/>
            <a:chExt cx="7429500" cy="495300"/>
          </a:xfrm>
        </p:grpSpPr>
        <p:sp>
          <p:nvSpPr>
            <p:cNvPr id="28" name="Rectangle 28"/>
            <p:cNvSpPr/>
            <p:nvPr/>
          </p:nvSpPr>
          <p:spPr>
            <a:xfrm>
              <a:off x="2381250" y="5657850"/>
              <a:ext cx="7429500" cy="49530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04604" y="5819775"/>
              <a:ext cx="55827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目标：让非技术业务人员直接获得“数据结果 + 图表 + 策略”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24140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81427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系统采用“数据层 + 预聚合层 + 多 Agent 层 + Web 层”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45670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核心结论：四层架构把离线数据工程与在线智能分析连接起来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76250" y="1428750"/>
            <a:ext cx="7524750" cy="4257675"/>
            <a:chOff x="476250" y="1428750"/>
            <a:chExt cx="7524750" cy="4257675"/>
          </a:xfrm>
        </p:grpSpPr>
        <p:sp>
          <p:nvSpPr>
            <p:cNvPr id="7" name="Rectangle 7"/>
            <p:cNvSpPr/>
            <p:nvPr/>
          </p:nvSpPr>
          <p:spPr>
            <a:xfrm>
              <a:off x="476250" y="1428750"/>
              <a:ext cx="7524750" cy="4257675"/>
            </a:xfrm>
            <a:prstGeom prst="roundRect">
              <a:avLst>
                <a:gd name="adj" fmla="val 2685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81150"/>
              <a:ext cx="7143750" cy="40386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>
            <p:custDataLst>
              <p:tags r:id="rId2"/>
            </p:custDataLst>
          </p:nvPr>
        </p:nvGrpSpPr>
        <p:grpSpPr>
          <a:xfrm>
            <a:off x="8382000" y="1428750"/>
            <a:ext cx="3333750" cy="4257675"/>
            <a:chOff x="8382000" y="1428750"/>
            <a:chExt cx="3333750" cy="4257675"/>
          </a:xfrm>
        </p:grpSpPr>
        <p:sp>
          <p:nvSpPr>
            <p:cNvPr id="10" name="Rectangle 10"/>
            <p:cNvSpPr/>
            <p:nvPr/>
          </p:nvSpPr>
          <p:spPr>
            <a:xfrm>
              <a:off x="8382000" y="1428750"/>
              <a:ext cx="3333750" cy="4257675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26792" y="17568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架构亮点</a:t>
              </a:r>
              <a:endParaRPr lang="zh-CN" sz="1725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648700" y="2266950"/>
              <a:ext cx="2972435" cy="857250"/>
              <a:chOff x="8648700" y="2266950"/>
              <a:chExt cx="2972435" cy="857250"/>
            </a:xfrm>
          </p:grpSpPr>
          <p:sp>
            <p:nvSpPr>
              <p:cNvPr id="12" name="Rectangle 12"/>
              <p:cNvSpPr/>
              <p:nvPr>
                <p:custDataLst>
                  <p:tags r:id="rId3"/>
                </p:custDataLst>
              </p:nvPr>
            </p:nvSpPr>
            <p:spPr>
              <a:xfrm>
                <a:off x="8648700" y="2266950"/>
                <a:ext cx="2972435" cy="857250"/>
              </a:xfrm>
              <a:prstGeom prst="roundRect">
                <a:avLst>
                  <a:gd name="adj" fmla="val 11111"/>
                </a:avLst>
              </a:prstGeom>
              <a:solidFill>
                <a:srgbClr val="2F80E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8822055" y="24260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离线预计算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824912" y="2736056"/>
                <a:ext cx="25413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高频 KPI 在 MySQL 物化表中提前计算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648700" y="3352800"/>
              <a:ext cx="2927985" cy="857250"/>
              <a:chOff x="8648700" y="3352800"/>
              <a:chExt cx="2927985" cy="857250"/>
            </a:xfrm>
          </p:grpSpPr>
          <p:sp>
            <p:nvSpPr>
              <p:cNvPr id="16" name="Rectangle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8648700" y="3352800"/>
                <a:ext cx="2927985" cy="857250"/>
              </a:xfrm>
              <a:prstGeom prst="roundRect">
                <a:avLst>
                  <a:gd name="adj" fmla="val 11111"/>
                </a:avLst>
              </a:prstGeom>
              <a:solidFill>
                <a:srgbClr val="00A6A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822055" y="35118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在线智能编排</a:t>
                </a:r>
                <a:endParaRPr lang="zh-CN" sz="13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824912" y="3821906"/>
                <a:ext cx="27514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Coordinator 根据意图只调用必要 Agent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648700" y="4438650"/>
              <a:ext cx="2972633" cy="857250"/>
              <a:chOff x="8648700" y="4438650"/>
              <a:chExt cx="2972633" cy="857250"/>
            </a:xfrm>
          </p:grpSpPr>
          <p:sp>
            <p:nvSpPr>
              <p:cNvPr id="20" name="Rectangle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8648700" y="4438650"/>
                <a:ext cx="2972435" cy="857250"/>
              </a:xfrm>
              <a:prstGeom prst="roundRect">
                <a:avLst>
                  <a:gd name="adj" fmla="val 11111"/>
                </a:avLst>
              </a:prstGeom>
              <a:solidFill>
                <a:srgbClr val="F2994A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822055" y="45977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交互闭环</a:t>
                </a:r>
                <a:endParaRPr lang="zh-CN" sz="135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824912" y="4907756"/>
                <a:ext cx="279642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问答、图表、策略建议在 Web 端统一展示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41020" y="293370"/>
            <a:ext cx="11079480" cy="887730"/>
            <a:chOff x="541020" y="293370"/>
            <a:chExt cx="110794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541020" y="293370"/>
              <a:ext cx="63953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 张原始表先清洗落库，再进入预聚合刷新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571500" y="781050"/>
              <a:ext cx="11049000" cy="400050"/>
            </a:xfrm>
            <a:prstGeom prst="roundRect">
              <a:avLst>
                <a:gd name="adj" fmla="val 19048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6760" y="908685"/>
              <a:ext cx="55415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核心结论：数据清洗保证上层 Agent 查询的数据可 JOIN、可解释、可索引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1619250"/>
            <a:ext cx="10953750" cy="2000250"/>
            <a:chOff x="666750" y="1619250"/>
            <a:chExt cx="10953750" cy="2000250"/>
          </a:xfrm>
        </p:grpSpPr>
        <p:grpSp>
          <p:nvGrpSpPr>
            <p:cNvPr id="12" name="Group 12"/>
            <p:cNvGrpSpPr/>
            <p:nvPr/>
          </p:nvGrpSpPr>
          <p:grpSpPr>
            <a:xfrm>
              <a:off x="666750" y="1809750"/>
              <a:ext cx="2190750" cy="1619250"/>
              <a:chOff x="666750" y="1809750"/>
              <a:chExt cx="2190750" cy="161925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66750" y="1809750"/>
                <a:ext cx="21907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FFFFFF"/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75348" y="2039779"/>
                <a:ext cx="1517540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Olist 原始 CSV</a:t>
                </a:r>
                <a:endParaRPr lang="zh-CN" sz="157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53440" y="2215515"/>
                <a:ext cx="938627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9 表</a:t>
                </a:r>
                <a:endParaRPr lang="zh-CN" sz="330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81062" y="28313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订单、商品、客户、卖家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81062" y="30599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支付、评价、地理、翻译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3000375" y="2619375"/>
              <a:ext cx="885825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000500" y="1619250"/>
              <a:ext cx="2476500" cy="2000250"/>
              <a:chOff x="4000500" y="1619250"/>
              <a:chExt cx="2476500" cy="2000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000500" y="1619250"/>
                <a:ext cx="2476500" cy="20002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247198" y="18492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加载即清洗</a:t>
                </a:r>
                <a:endParaRPr lang="zh-CN" sz="157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51960" y="2270760"/>
                <a:ext cx="11506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时间字段标准化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51960" y="2575560"/>
                <a:ext cx="13986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重复订单/评价去除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251960" y="288036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品类翻译缺失补全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251960" y="318516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地理表按邮编聚合</a:t>
                </a:r>
                <a:endPara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6619875" y="2619375"/>
              <a:ext cx="885825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620000" y="1809750"/>
              <a:ext cx="2000250" cy="1619250"/>
              <a:chOff x="7620000" y="1809750"/>
              <a:chExt cx="2000250" cy="1619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0" y="1809750"/>
                <a:ext cx="2000250" cy="1619250"/>
              </a:xfrm>
              <a:prstGeom prst="roundRect">
                <a:avLst>
                  <a:gd name="adj" fmla="val 8235"/>
                </a:avLst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866698" y="2039779"/>
                <a:ext cx="1164696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MySQL 8.0</a:t>
                </a:r>
                <a:endParaRPr lang="zh-CN" sz="15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850505" y="2264092"/>
                <a:ext cx="1688542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8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utf8mb4</a:t>
                </a:r>
                <a:endParaRPr lang="zh-CN" sz="28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72412" y="2831306"/>
                <a:ext cx="1491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 JOIN 字段建索引</a:t>
                </a:r>
                <a:endParaRPr lang="zh-CN" sz="112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872412" y="30599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支持葡语评论文本</a:t>
                </a:r>
                <a:endParaRPr lang="zh-CN" sz="112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8" name="Line 28"/>
            <p:cNvSpPr/>
            <p:nvPr/>
          </p:nvSpPr>
          <p:spPr>
            <a:xfrm>
              <a:off x="9763125" y="2619375"/>
              <a:ext cx="733425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572750" y="1619250"/>
              <a:ext cx="1047750" cy="2000250"/>
              <a:chOff x="10572750" y="1619250"/>
              <a:chExt cx="1047750" cy="20002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10572750" y="1619250"/>
                <a:ext cx="1047750" cy="2000250"/>
              </a:xfrm>
              <a:prstGeom prst="roundRect">
                <a:avLst>
                  <a:gd name="adj" fmla="val 12727"/>
                </a:avLst>
              </a:prstGeom>
              <a:solidFill>
                <a:srgbClr val="2F80ED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989095" y="1906905"/>
                <a:ext cx="21506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</a:t>
                </a:r>
                <a:endParaRPr lang="zh-CN" sz="21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0857309" y="2336006"/>
                <a:ext cx="4786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物化表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883765" y="2782252"/>
                <a:ext cx="425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 业务</a:t>
                </a:r>
                <a:endParaRPr lang="zh-CN" sz="10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0883765" y="3029902"/>
                <a:ext cx="4257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 地理</a:t>
                </a:r>
                <a:endParaRPr lang="zh-CN" sz="10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857250" y="4238625"/>
            <a:ext cx="10382250" cy="1200150"/>
            <a:chOff x="857250" y="4238625"/>
            <a:chExt cx="10382250" cy="1200150"/>
          </a:xfrm>
        </p:grpSpPr>
        <p:sp>
          <p:nvSpPr>
            <p:cNvPr id="36" name="Rectangle 36"/>
            <p:cNvSpPr/>
            <p:nvPr/>
          </p:nvSpPr>
          <p:spPr>
            <a:xfrm>
              <a:off x="857250" y="4238625"/>
              <a:ext cx="103822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23950" y="448627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关键预处理效果</a:t>
              </a:r>
              <a:endParaRPr lang="zh-CN" sz="15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6808" y="4872514"/>
              <a:ext cx="61701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geolocation 从约 100 万行聚合到约 1.9 万邮编前缀，避免后续地理 JOIN 膨胀。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6808" y="5158264"/>
              <a:ext cx="742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order_reviews 每个订单保留一条评价，review_score 限定 1-5 分，文本空值填充为空字符串。</a:t>
              </a:r>
              <a:endParaRPr lang="zh-CN" sz="127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24140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34494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预聚合视图让月度 GMV 查询约 600 倍加速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F2994A">
                <a:alpha val="14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4810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核心结论：高频指标离线预计算，是 Web 端交互体验稳定的关键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447800"/>
            <a:ext cx="7239000" cy="4229100"/>
            <a:chOff x="533400" y="1447800"/>
            <a:chExt cx="7239000" cy="4229100"/>
          </a:xfrm>
        </p:grpSpPr>
        <p:sp>
          <p:nvSpPr>
            <p:cNvPr id="7" name="Rectangle 7"/>
            <p:cNvSpPr/>
            <p:nvPr/>
          </p:nvSpPr>
          <p:spPr>
            <a:xfrm>
              <a:off x="533400" y="1447800"/>
              <a:ext cx="7239000" cy="4229100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05663" y="1676400"/>
              <a:ext cx="6494473" cy="379095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8096250" y="1447800"/>
            <a:ext cx="3524250" cy="4229100"/>
            <a:chOff x="8096250" y="1447800"/>
            <a:chExt cx="3524250" cy="4229100"/>
          </a:xfrm>
        </p:grpSpPr>
        <p:sp>
          <p:nvSpPr>
            <p:cNvPr id="10" name="Rectangle 10"/>
            <p:cNvSpPr/>
            <p:nvPr/>
          </p:nvSpPr>
          <p:spPr>
            <a:xfrm>
              <a:off x="8096250" y="1447800"/>
              <a:ext cx="3524250" cy="4229100"/>
            </a:xfrm>
            <a:prstGeom prst="roundRect">
              <a:avLst>
                <a:gd name="adj" fmla="val 3784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20100" y="1876425"/>
              <a:ext cx="244290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同一问题：月度 GMV 趋势</a:t>
              </a:r>
              <a:endParaRPr lang="zh-CN" sz="1500" b="1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97240" y="2425065"/>
              <a:ext cx="160861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0.896s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23910" y="2937510"/>
              <a:ext cx="178269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原始表 JOIN + GROUP BY</a:t>
              </a:r>
              <a:endParaRPr lang="zh-CN" sz="120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8439150" y="3333750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rgbClr val="D6E0EA">
                  <a:alpha val="36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97240" y="3587115"/>
              <a:ext cx="160861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0.001s</a:t>
              </a:r>
              <a:endParaRPr lang="zh-CN" sz="3300" b="1" dirty="0">
                <a:solidFill>
                  <a:srgbClr val="F299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3910" y="4099560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SELECT mv_monthly_sales</a:t>
              </a:r>
              <a:endParaRPr lang="zh-CN" sz="120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439150" y="4648200"/>
              <a:ext cx="2381250" cy="552450"/>
            </a:xfrm>
            <a:prstGeom prst="roundRect">
              <a:avLst>
                <a:gd name="adj" fmla="val 50000"/>
              </a:avLst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38836" y="4832032"/>
              <a:ext cx="13818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约 600x 加速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5465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LangGraph 按问题类型路由最小必要 Agent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57347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核心结论：条件分支避免所有问题都触发预测或 NLP，提升响应速度和可控性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600200"/>
            <a:ext cx="10572750" cy="1200150"/>
            <a:chOff x="762000" y="1600200"/>
            <a:chExt cx="10572750" cy="1200150"/>
          </a:xfrm>
        </p:grpSpPr>
        <p:sp>
          <p:nvSpPr>
            <p:cNvPr id="7" name="Rectangle 7"/>
            <p:cNvSpPr/>
            <p:nvPr/>
          </p:nvSpPr>
          <p:spPr>
            <a:xfrm>
              <a:off x="762000" y="1752600"/>
              <a:ext cx="1809750" cy="895350"/>
            </a:xfrm>
            <a:prstGeom prst="roundRect">
              <a:avLst>
                <a:gd name="adj" fmla="val 12766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8485" y="1952625"/>
              <a:ext cx="14767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User Question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3470" y="22869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自然语言业务问题</a:t>
              </a:r>
              <a:endParaRPr lang="zh-CN" sz="105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2571750" y="2200275"/>
              <a:ext cx="762000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429000" y="1600200"/>
              <a:ext cx="2095500" cy="12001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848624" y="187642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Coordinator</a:t>
              </a:r>
              <a:endParaRPr lang="zh-CN" sz="15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01155" y="2202656"/>
              <a:ext cx="9511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任务分解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51136" y="2431256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 plan / route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5524500" y="2200275"/>
              <a:ext cx="666750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286500" y="1600200"/>
              <a:ext cx="2000250" cy="120015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53011" y="1876425"/>
              <a:ext cx="1067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SQL Agent</a:t>
              </a:r>
              <a:endParaRPr lang="zh-CN" sz="15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72300" y="220265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视图优先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72262" y="24312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必要时回退基础表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8286750" y="2200275"/>
              <a:ext cx="762000" cy="1"/>
            </a:xfrm>
            <a:prstGeom prst="line">
              <a:avLst/>
            </a:prstGeom>
            <a:noFill/>
            <a:ln w="28575">
              <a:solidFill>
                <a:srgbClr val="2F80ED"/>
              </a:solidFill>
              <a:tailEnd type="triangle" w="lg" len="lg"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0" y="1752600"/>
              <a:ext cx="2190750" cy="895350"/>
            </a:xfrm>
            <a:prstGeom prst="roundRect">
              <a:avLst>
                <a:gd name="adj" fmla="val 12766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10774" y="1952625"/>
              <a:ext cx="8572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Decision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04950" y="2286952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解释 + 建议 + 汇总回答</a:t>
              </a:r>
              <a:endParaRPr lang="zh-CN" sz="105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2500" y="2800350"/>
            <a:ext cx="10287000" cy="1981200"/>
            <a:chOff x="952500" y="2800350"/>
            <a:chExt cx="10287000" cy="1981200"/>
          </a:xfrm>
        </p:grpSpPr>
        <p:sp>
          <p:nvSpPr>
            <p:cNvPr id="25" name="Freeform 25"/>
            <p:cNvSpPr/>
            <p:nvPr/>
          </p:nvSpPr>
          <p:spPr>
            <a:xfrm>
              <a:off x="2095500" y="2800350"/>
              <a:ext cx="5191125" cy="628650"/>
            </a:xfrm>
            <a:custGeom>
              <a:avLst/>
              <a:gdLst/>
              <a:ahLst/>
              <a:cxnLst/>
              <a:rect l="l" t="t" r="r" b="b"/>
              <a:pathLst>
                <a:path w="5191125" h="628650">
                  <a:moveTo>
                    <a:pt x="5191125" y="0"/>
                  </a:moveTo>
                  <a:lnTo>
                    <a:pt x="5191125" y="628650"/>
                  </a:ln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6E0EA"/>
              </a:solidFill>
              <a:prstDash val="lgDash"/>
            </a:ln>
          </p:spPr>
        </p:sp>
        <p:sp>
          <p:nvSpPr>
            <p:cNvPr id="26" name="Freeform 26"/>
            <p:cNvSpPr/>
            <p:nvPr/>
          </p:nvSpPr>
          <p:spPr>
            <a:xfrm>
              <a:off x="4762500" y="2800350"/>
              <a:ext cx="2524125" cy="628650"/>
            </a:xfrm>
            <a:custGeom>
              <a:avLst/>
              <a:gdLst/>
              <a:ahLst/>
              <a:cxnLst/>
              <a:rect l="l" t="t" r="r" b="b"/>
              <a:pathLst>
                <a:path w="2524125" h="628650">
                  <a:moveTo>
                    <a:pt x="2524125" y="0"/>
                  </a:moveTo>
                  <a:lnTo>
                    <a:pt x="2524125" y="628650"/>
                  </a:ln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6E0EA"/>
              </a:solidFill>
              <a:prstDash val="lgDash"/>
            </a:ln>
          </p:spPr>
        </p:sp>
        <p:sp>
          <p:nvSpPr>
            <p:cNvPr id="27" name="Freeform 27"/>
            <p:cNvSpPr/>
            <p:nvPr/>
          </p:nvSpPr>
          <p:spPr>
            <a:xfrm>
              <a:off x="7286625" y="2800350"/>
              <a:ext cx="142875" cy="628650"/>
            </a:xfrm>
            <a:custGeom>
              <a:avLst/>
              <a:gdLst/>
              <a:ahLst/>
              <a:cxnLst/>
              <a:rect l="l" t="t" r="r" b="b"/>
              <a:pathLst>
                <a:path w="142875" h="628650">
                  <a:moveTo>
                    <a:pt x="0" y="0"/>
                  </a:moveTo>
                  <a:lnTo>
                    <a:pt x="0" y="628650"/>
                  </a:lnTo>
                  <a:lnTo>
                    <a:pt x="142875" y="628650"/>
                  </a:lnTo>
                </a:path>
              </a:pathLst>
            </a:custGeom>
            <a:noFill/>
            <a:ln w="19050">
              <a:solidFill>
                <a:srgbClr val="D6E0EA"/>
              </a:solidFill>
              <a:prstDash val="lgDash"/>
            </a:ln>
          </p:spPr>
        </p:sp>
        <p:sp>
          <p:nvSpPr>
            <p:cNvPr id="28" name="Freeform 28"/>
            <p:cNvSpPr/>
            <p:nvPr/>
          </p:nvSpPr>
          <p:spPr>
            <a:xfrm>
              <a:off x="7286625" y="2800350"/>
              <a:ext cx="2809875" cy="628650"/>
            </a:xfrm>
            <a:custGeom>
              <a:avLst/>
              <a:gdLst/>
              <a:ahLst/>
              <a:cxnLst/>
              <a:rect l="l" t="t" r="r" b="b"/>
              <a:pathLst>
                <a:path w="2809875" h="628650">
                  <a:moveTo>
                    <a:pt x="0" y="0"/>
                  </a:moveTo>
                  <a:lnTo>
                    <a:pt x="0" y="628650"/>
                  </a:lnTo>
                  <a:lnTo>
                    <a:pt x="2809875" y="628650"/>
                  </a:lnTo>
                </a:path>
              </a:pathLst>
            </a:custGeom>
            <a:noFill/>
            <a:ln w="19050">
              <a:solidFill>
                <a:srgbClr val="D6E0EA"/>
              </a:solidFill>
              <a:prstDash val="lgDash"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52500" y="3619500"/>
              <a:ext cx="2286000" cy="1162050"/>
              <a:chOff x="952500" y="3619500"/>
              <a:chExt cx="2286000" cy="11620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52500" y="3619500"/>
                <a:ext cx="2286000" cy="1162050"/>
              </a:xfrm>
              <a:prstGeom prst="roundRect">
                <a:avLst>
                  <a:gd name="adj" fmla="val 9836"/>
                </a:avLst>
              </a:prstGeom>
              <a:solidFill>
                <a:srgbClr val="2F80ED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614392" y="3857625"/>
                <a:ext cx="96221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Forecast</a:t>
                </a:r>
                <a:endParaRPr lang="zh-CN" sz="150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59897" y="4183856"/>
                <a:ext cx="107120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预测/未来/6 周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48646" y="441245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才触发 SARIMAX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3619500" y="3619500"/>
              <a:ext cx="2286000" cy="1162050"/>
              <a:chOff x="3619500" y="3619500"/>
              <a:chExt cx="2286000" cy="11620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619500" y="3619500"/>
                <a:ext cx="2286000" cy="1162050"/>
              </a:xfrm>
              <a:prstGeom prst="roundRect">
                <a:avLst>
                  <a:gd name="adj" fmla="val 9836"/>
                </a:avLst>
              </a:prstGeom>
              <a:solidFill>
                <a:srgbClr val="00A6A6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570178" y="3857625"/>
                <a:ext cx="38464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NLP</a:t>
                </a:r>
                <a:endParaRPr lang="zh-CN" sz="150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215646" y="418385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评论/差评/原因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73128" y="441245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才抽取关键词与情感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286500" y="3619500"/>
              <a:ext cx="2286000" cy="1162050"/>
              <a:chOff x="6286500" y="3619500"/>
              <a:chExt cx="2286000" cy="11620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286500" y="3619500"/>
                <a:ext cx="2286000" cy="1162050"/>
              </a:xfrm>
              <a:prstGeom prst="roundRect">
                <a:avLst>
                  <a:gd name="adj" fmla="val 9836"/>
                </a:avLst>
              </a:prstGeom>
              <a:solidFill>
                <a:srgbClr val="F2994A">
                  <a:alpha val="12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764619" y="3857625"/>
                <a:ext cx="132976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Visualization</a:t>
                </a:r>
                <a:endParaRPr lang="zh-CN" sz="150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90147" y="4183856"/>
                <a:ext cx="10787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按问题规划图表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03886" y="4412456"/>
                <a:ext cx="1251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快速模式最多 4 张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953500" y="3619500"/>
              <a:ext cx="2286000" cy="1162050"/>
              <a:chOff x="8953500" y="3619500"/>
              <a:chExt cx="2286000" cy="11620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8953500" y="3619500"/>
                <a:ext cx="2286000" cy="1162050"/>
              </a:xfrm>
              <a:prstGeom prst="roundRect">
                <a:avLst>
                  <a:gd name="adj" fmla="val 9836"/>
                </a:avLst>
              </a:prstGeom>
              <a:solidFill>
                <a:srgbClr val="C62828">
                  <a:alpha val="8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347609" y="3857625"/>
                <a:ext cx="149778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Special Agents</a:t>
                </a:r>
                <a:endParaRPr lang="zh-CN" sz="150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425880" y="4183856"/>
                <a:ext cx="13412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What-if / Anomaly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290864" y="4412456"/>
                <a:ext cx="16112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只在模拟/预警问题触发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1428750" y="5314950"/>
            <a:ext cx="9334500" cy="514350"/>
            <a:chOff x="1428750" y="5314950"/>
            <a:chExt cx="9334500" cy="514350"/>
          </a:xfrm>
        </p:grpSpPr>
        <p:sp>
          <p:nvSpPr>
            <p:cNvPr id="50" name="Rectangle 50"/>
            <p:cNvSpPr/>
            <p:nvPr/>
          </p:nvSpPr>
          <p:spPr>
            <a:xfrm>
              <a:off x="1428750" y="5314950"/>
              <a:ext cx="9334500" cy="51435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15580" y="5486400"/>
              <a:ext cx="59608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从“线性全跑”升级为“按意图路由”，系统更快、更稳、更可解释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9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6977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MemorySaver 与显式历史让追问不丢上下文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49198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核心结论：“那准时率呢？”会被改写为带上轮问题的完整分析任务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1466850"/>
            <a:ext cx="5143500" cy="4267200"/>
            <a:chOff x="685800" y="1466850"/>
            <a:chExt cx="5143500" cy="4267200"/>
          </a:xfrm>
        </p:grpSpPr>
        <p:sp>
          <p:nvSpPr>
            <p:cNvPr id="7" name="Rectangle 7"/>
            <p:cNvSpPr/>
            <p:nvPr/>
          </p:nvSpPr>
          <p:spPr>
            <a:xfrm>
              <a:off x="685800" y="1466850"/>
              <a:ext cx="5143500" cy="4267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9645" y="17459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多轮追问示例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90600" y="2209800"/>
              <a:ext cx="3714750" cy="571500"/>
              <a:chOff x="990600" y="2209800"/>
              <a:chExt cx="3714750" cy="571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90600" y="2209800"/>
                <a:ext cx="371475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2F80E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184910" y="232791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User</a:t>
                </a:r>
                <a:endParaRPr lang="zh-CN" sz="120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85862" y="2545556"/>
                <a:ext cx="19038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2017 年哪个州销售额最高？</a:t>
                </a:r>
                <a:endPara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504950" y="3028950"/>
              <a:ext cx="3714750" cy="666750"/>
              <a:chOff x="1504950" y="3028950"/>
              <a:chExt cx="3714750" cy="666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504950" y="3028950"/>
                <a:ext cx="371475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7F9FB"/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699260" y="3147060"/>
                <a:ext cx="8201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Assistant</a:t>
                </a:r>
                <a:endPara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0212" y="3383756"/>
                <a:ext cx="27814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命中 mv_state_sales，SP 州排名第一。</a:t>
                </a:r>
                <a:endPara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90600" y="3943350"/>
              <a:ext cx="3714750" cy="571500"/>
              <a:chOff x="990600" y="3943350"/>
              <a:chExt cx="3714750" cy="5715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90600" y="3943350"/>
                <a:ext cx="371475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2F80E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84910" y="406146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User</a:t>
                </a:r>
                <a:endParaRPr lang="zh-CN" sz="120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85862" y="427910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那准时率呢？</a:t>
                </a:r>
                <a:endPara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504950" y="4762500"/>
              <a:ext cx="3714750" cy="666750"/>
              <a:chOff x="1504950" y="4762500"/>
              <a:chExt cx="3714750" cy="666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504950" y="4762500"/>
                <a:ext cx="3714750" cy="666750"/>
              </a:xfrm>
              <a:prstGeom prst="roundRect">
                <a:avLst>
                  <a:gd name="adj" fmla="val 20000"/>
                </a:avLst>
              </a:prstGeom>
              <a:solidFill>
                <a:srgbClr val="F7F9FB"/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99260" y="4880610"/>
                <a:ext cx="13074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System rewrite</a:t>
                </a:r>
                <a:endPara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01165" y="5125402"/>
                <a:ext cx="303704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2017 年哪个州销售额最高？追问：那准时率呢？</a:t>
                </a:r>
                <a:endParaRPr lang="zh-CN" sz="105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286500" y="1466850"/>
            <a:ext cx="5238750" cy="4267200"/>
            <a:chOff x="6286500" y="1466850"/>
            <a:chExt cx="5238750" cy="42672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466850"/>
              <a:ext cx="5238750" cy="42672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70345" y="17459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两层上下文机制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6591300" y="2247900"/>
              <a:ext cx="4400550" cy="876300"/>
              <a:chOff x="6591300" y="2247900"/>
              <a:chExt cx="4400550" cy="8763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591300" y="2247900"/>
                <a:ext cx="4400550" cy="876300"/>
              </a:xfrm>
              <a:prstGeom prst="roundRect">
                <a:avLst>
                  <a:gd name="adj" fmla="val 13043"/>
                </a:avLst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838950" y="2409825"/>
                <a:ext cx="249540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LangGraph MemorySaver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843712" y="2736056"/>
                <a:ext cx="23238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同一 thread_id 下保存图状态快照</a:t>
                </a:r>
                <a:endParaRPr lang="zh-CN" sz="112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591300" y="3390900"/>
              <a:ext cx="4400550" cy="876300"/>
              <a:chOff x="6591300" y="3390900"/>
              <a:chExt cx="4400550" cy="8763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591300" y="3390900"/>
                <a:ext cx="4400550" cy="876300"/>
              </a:xfrm>
              <a:prstGeom prst="roundRect">
                <a:avLst>
                  <a:gd name="adj" fmla="val 13043"/>
                </a:avLst>
              </a:prstGeom>
              <a:solidFill>
                <a:srgbClr val="2F80ED">
                  <a:alpha val="12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838950" y="3552825"/>
                <a:ext cx="224337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conversation_history</a:t>
                </a:r>
                <a:endParaRPr lang="zh-CN" sz="150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843712" y="3879056"/>
                <a:ext cx="40640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前端显式传入历史问答，供 Coordinator 和 SQL Agent 使用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591300" y="4533900"/>
              <a:ext cx="4400550" cy="876300"/>
              <a:chOff x="6591300" y="4533900"/>
              <a:chExt cx="4400550" cy="8763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91300" y="4533900"/>
                <a:ext cx="4400550" cy="876300"/>
              </a:xfrm>
              <a:prstGeom prst="roundRect">
                <a:avLst>
                  <a:gd name="adj" fmla="val 13043"/>
                </a:avLst>
              </a:prstGeom>
              <a:solidFill>
                <a:srgbClr val="00A6A6">
                  <a:alpha val="12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838950" y="4695825"/>
                <a:ext cx="176031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context_rewrite</a:t>
                </a:r>
                <a:endParaRPr lang="zh-CN" sz="150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43712" y="5022056"/>
                <a:ext cx="34790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把短追问补全为独立业务问题，降低上下文丢失风险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42" name="TextBox 42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285750" y="-285750"/>
            <a:ext cx="12477750" cy="8001000"/>
            <a:chOff x="-285750" y="-285750"/>
            <a:chExt cx="12477750" cy="8001000"/>
          </a:xfrm>
        </p:grpSpPr>
        <p:sp>
          <p:nvSpPr>
            <p:cNvPr id="3" name="Ellipse 3"/>
            <p:cNvSpPr/>
            <p:nvPr/>
          </p:nvSpPr>
          <p:spPr>
            <a:xfrm>
              <a:off x="9048750" y="-285750"/>
              <a:ext cx="2857500" cy="2857500"/>
            </a:xfrm>
            <a:prstGeom prst="ellipse">
              <a:avLst/>
            </a:prstGeom>
            <a:solidFill>
              <a:srgbClr val="2F80ED">
                <a:alpha val="22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85750" y="4095750"/>
              <a:ext cx="3619500" cy="3619500"/>
            </a:xfrm>
            <a:prstGeom prst="ellipse">
              <a:avLst/>
            </a:prstGeom>
            <a:solidFill>
              <a:srgbClr val="00A6A6">
                <a:alpha val="18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4095750"/>
              <a:ext cx="12192000" cy="2762250"/>
            </a:xfrm>
            <a:custGeom>
              <a:avLst/>
              <a:gdLst/>
              <a:ahLst/>
              <a:cxnLst/>
              <a:rect l="l" t="t" r="r" b="b"/>
              <a:pathLst>
                <a:path w="12192000" h="2762250">
                  <a:moveTo>
                    <a:pt x="0" y="1238250"/>
                  </a:moveTo>
                  <a:cubicBezTo>
                    <a:pt x="2476500" y="666750"/>
                    <a:pt x="4000500" y="2095500"/>
                    <a:pt x="6667500" y="1524000"/>
                  </a:cubicBezTo>
                  <a:cubicBezTo>
                    <a:pt x="8858250" y="1047750"/>
                    <a:pt x="9810750" y="0"/>
                    <a:pt x="12192000" y="666750"/>
                  </a:cubicBezTo>
                  <a:lnTo>
                    <a:pt x="12192000" y="2762250"/>
                  </a:lnTo>
                  <a:lnTo>
                    <a:pt x="0" y="2762250"/>
                  </a:lnTo>
                  <a:close/>
                </a:path>
              </a:pathLst>
            </a:custGeom>
            <a:solidFill>
              <a:srgbClr val="FFFFFF">
                <a:alpha val="6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16280" y="754380"/>
            <a:ext cx="7652385" cy="983932"/>
            <a:chOff x="716280" y="754380"/>
            <a:chExt cx="7652385" cy="983932"/>
          </a:xfrm>
        </p:grpSpPr>
        <p:sp>
          <p:nvSpPr>
            <p:cNvPr id="7" name="TextBox 7"/>
            <p:cNvSpPr txBox="1"/>
            <p:nvPr/>
          </p:nvSpPr>
          <p:spPr>
            <a:xfrm>
              <a:off x="716280" y="754380"/>
              <a:ext cx="765238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现场演示用三类问题覆盖核心能力</a:t>
              </a:r>
              <a:endParaRPr lang="zh-CN" sz="36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0095" y="1403032"/>
              <a:ext cx="53445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描述性、诊断性、What-if 三个问题证明系统链路完整</a:t>
              </a:r>
              <a:endParaRPr lang="zh-CN" sz="165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9630" y="2478405"/>
            <a:ext cx="8385358" cy="3148489"/>
            <a:chOff x="849630" y="2478405"/>
            <a:chExt cx="8385358" cy="3148489"/>
          </a:xfrm>
        </p:grpSpPr>
        <p:grpSp>
          <p:nvGrpSpPr>
            <p:cNvPr id="13" name="Group 13"/>
            <p:cNvGrpSpPr/>
            <p:nvPr/>
          </p:nvGrpSpPr>
          <p:grpSpPr>
            <a:xfrm>
              <a:off x="849630" y="2478405"/>
              <a:ext cx="8385358" cy="671989"/>
              <a:chOff x="849630" y="2478405"/>
              <a:chExt cx="8385358" cy="671989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849630" y="2478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01</a:t>
                </a:r>
                <a:endParaRPr lang="zh-CN" sz="210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403985" y="2494598"/>
                <a:ext cx="783100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2017 年哪个州销售额最高？准时率是多少？支付方式最受欢迎？</a:t>
                </a:r>
                <a:endPara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12558" y="2891314"/>
                <a:ext cx="350932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验证：多视图联合命中 · 州销售 + 配送 + 支付</a:t>
                </a:r>
                <a:endParaRPr lang="zh-CN" sz="127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49630" y="3716655"/>
              <a:ext cx="7975806" cy="671989"/>
              <a:chOff x="849630" y="3716655"/>
              <a:chExt cx="7975806" cy="671989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49630" y="371665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02</a:t>
                </a:r>
                <a:endParaRPr lang="zh-CN" sz="210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403985" y="3732848"/>
                <a:ext cx="7421451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为什么某些州配送时长高于全国均值？哪些卖家差评率最高？</a:t>
                </a:r>
                <a:endPara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12558" y="4129564"/>
                <a:ext cx="365383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验证：诊断下钻 · 配送全国均值对比 + 卖家绩效</a:t>
                </a:r>
                <a:endParaRPr lang="zh-CN" sz="127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49630" y="4954905"/>
              <a:ext cx="8153279" cy="671989"/>
              <a:chOff x="849630" y="4954905"/>
              <a:chExt cx="8153279" cy="671989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49630" y="49549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03</a:t>
                </a:r>
                <a:endParaRPr lang="zh-CN" sz="210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403985" y="4971098"/>
                <a:ext cx="759892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如果将 Top 20 高差评卖家商品下架，平台评分预估提升多少？</a:t>
                </a:r>
                <a:endParaRPr lang="zh-CN" sz="19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412558" y="5367814"/>
                <a:ext cx="401088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验证：What-if 加分功能 · 评分提升 + 业务风险说明</a:t>
                </a:r>
                <a:endParaRPr lang="zh-CN" sz="1275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105090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09 / 18</a:t>
            </a:r>
            <a:endParaRPr lang="zh-CN" sz="825" dirty="0">
              <a:solidFill>
                <a:srgbClr val="D6E0E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4457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描述性分析优先命中州级、配送和支付视图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49030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核心结论：用户一个复合问题即可得到州销售、准时率和支付偏好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428750"/>
            <a:ext cx="7067550" cy="5048250"/>
            <a:chOff x="533400" y="1428750"/>
            <a:chExt cx="7067550" cy="5048250"/>
          </a:xfrm>
        </p:grpSpPr>
        <p:sp>
          <p:nvSpPr>
            <p:cNvPr id="7" name="Rectangle 7"/>
            <p:cNvSpPr/>
            <p:nvPr/>
          </p:nvSpPr>
          <p:spPr>
            <a:xfrm>
              <a:off x="533400" y="1428750"/>
              <a:ext cx="7067550" cy="5048250"/>
            </a:xfrm>
            <a:prstGeom prst="roundRect">
              <a:avLst>
                <a:gd name="adj" fmla="val 2264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1050" y="1714500"/>
              <a:ext cx="6572250" cy="4695825"/>
            </a:xfrm>
            <a:prstGeom prst="rect">
              <a:avLst/>
            </a:prstGeom>
          </p:spPr>
        </p:pic>
      </p:grpSp>
      <p:grpSp>
        <p:nvGrpSpPr>
          <p:cNvPr id="28" name="Group 28"/>
          <p:cNvGrpSpPr/>
          <p:nvPr/>
        </p:nvGrpSpPr>
        <p:grpSpPr>
          <a:xfrm>
            <a:off x="7962900" y="1428750"/>
            <a:ext cx="3752850" cy="5048250"/>
            <a:chOff x="7962900" y="1428750"/>
            <a:chExt cx="3752850" cy="5048250"/>
          </a:xfrm>
        </p:grpSpPr>
        <p:sp>
          <p:nvSpPr>
            <p:cNvPr id="10" name="Rectangle 10"/>
            <p:cNvSpPr/>
            <p:nvPr/>
          </p:nvSpPr>
          <p:spPr>
            <a:xfrm>
              <a:off x="7962900" y="1428750"/>
              <a:ext cx="3752850" cy="5048250"/>
            </a:xfrm>
            <a:prstGeom prst="roundRect">
              <a:avLst>
                <a:gd name="adj" fmla="val 3553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27695" y="17649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复合问题拆解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248650" y="2266950"/>
              <a:ext cx="2857500" cy="552450"/>
              <a:chOff x="8248650" y="2266950"/>
              <a:chExt cx="2857500" cy="5524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248650" y="2266950"/>
                <a:ext cx="28575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2F80ED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42008" y="2472214"/>
                <a:ext cx="139808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mv_state_sales</a:t>
                </a:r>
                <a:endParaRPr lang="zh-CN" sz="127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9948862" y="2488406"/>
                <a:ext cx="9961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州级 GMV 排名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248650" y="3009900"/>
              <a:ext cx="2857500" cy="552450"/>
              <a:chOff x="8248650" y="3009900"/>
              <a:chExt cx="2857500" cy="5524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248650" y="3009900"/>
                <a:ext cx="28575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00A6A6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442008" y="3215164"/>
                <a:ext cx="154982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mv_delivery_perf</a:t>
                </a:r>
                <a:endParaRPr lang="zh-CN" sz="127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948862" y="3231356"/>
                <a:ext cx="92868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准时率与延迟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248650" y="3752850"/>
              <a:ext cx="2857500" cy="552450"/>
              <a:chOff x="8248650" y="3752850"/>
              <a:chExt cx="2857500" cy="5524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248650" y="3752850"/>
                <a:ext cx="2857500" cy="552450"/>
              </a:xfrm>
              <a:prstGeom prst="roundRect">
                <a:avLst>
                  <a:gd name="adj" fmla="val 17241"/>
                </a:avLst>
              </a:prstGeom>
              <a:solidFill>
                <a:srgbClr val="F2994A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442008" y="3958114"/>
                <a:ext cx="153197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mv_payment_dist</a:t>
                </a:r>
                <a:endParaRPr lang="zh-CN" sz="1275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48862" y="397430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支付偏好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11336655" y="65405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7818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支付热力图揭示信用卡和分期是核心支付行为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47350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核心结论：支付偏好不仅是统计结果，也能转化为分期营销建议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428750"/>
            <a:ext cx="6477000" cy="4762500"/>
            <a:chOff x="571500" y="1428750"/>
            <a:chExt cx="6477000" cy="47625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6477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57250" y="1695450"/>
              <a:ext cx="5905500" cy="4219575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7524750" y="1428750"/>
            <a:ext cx="4000500" cy="4762500"/>
            <a:chOff x="7524750" y="1428750"/>
            <a:chExt cx="4000500" cy="4762500"/>
          </a:xfrm>
        </p:grpSpPr>
        <p:sp>
          <p:nvSpPr>
            <p:cNvPr id="10" name="Rectangle 10"/>
            <p:cNvSpPr/>
            <p:nvPr/>
          </p:nvSpPr>
          <p:spPr>
            <a:xfrm>
              <a:off x="7524750" y="1428750"/>
              <a:ext cx="4000500" cy="4762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27645" y="17840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业务解读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848600" y="2305050"/>
              <a:ext cx="3143250" cy="685800"/>
              <a:chOff x="7848600" y="2305050"/>
              <a:chExt cx="3143250" cy="6858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848600" y="2305050"/>
                <a:ext cx="31432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079105" y="2445068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信用卡是主流入口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082915" y="2725102"/>
                <a:ext cx="22459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E0E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支付体验优化优先围绕 credit card</a:t>
                </a:r>
                <a:endParaRPr lang="zh-CN" sz="105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848600" y="3257550"/>
              <a:ext cx="3143250" cy="685800"/>
              <a:chOff x="7848600" y="3257550"/>
              <a:chExt cx="3143250" cy="685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848600" y="3257550"/>
                <a:ext cx="31432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2F80ED">
                  <a:alpha val="12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079105" y="33975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分期是高客单价杠杆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82915" y="3677602"/>
                <a:ext cx="16858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 期 / 6 期免息可刺激转化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48600" y="4210050"/>
              <a:ext cx="3143250" cy="685800"/>
              <a:chOff x="7848600" y="4210050"/>
              <a:chExt cx="3143250" cy="6858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848600" y="4210050"/>
                <a:ext cx="314325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2994A">
                  <a:alpha val="14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079105" y="4350068"/>
                <a:ext cx="142361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Boleto 仍需保留</a:t>
                </a:r>
                <a:endParaRPr lang="zh-CN" sz="135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82915" y="46301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符合巴西线下付款习惯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10971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诊断型演示把配送时效转成卖家风险动作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F2994A">
                <a:alpha val="14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52391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核心结论：先识别延迟天数分布，再把高风险链路沉淀为运营干预清单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428750"/>
            <a:ext cx="6667500" cy="4762500"/>
            <a:chOff x="533400" y="1428750"/>
            <a:chExt cx="66675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428750"/>
              <a:ext cx="66675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0125" y="1762125"/>
              <a:ext cx="5734050" cy="4095750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>
            <a:off x="7524750" y="1428750"/>
            <a:ext cx="4000500" cy="4762500"/>
            <a:chOff x="7524750" y="1428750"/>
            <a:chExt cx="4000500" cy="4762500"/>
          </a:xfrm>
        </p:grpSpPr>
        <p:sp>
          <p:nvSpPr>
            <p:cNvPr id="10" name="Rectangle 10"/>
            <p:cNvSpPr/>
            <p:nvPr/>
          </p:nvSpPr>
          <p:spPr>
            <a:xfrm>
              <a:off x="7524750" y="1428750"/>
              <a:ext cx="4000500" cy="4762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27645" y="175545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诊断闭环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7886700" y="2235518"/>
              <a:ext cx="2759868" cy="519588"/>
              <a:chOff x="7886700" y="2235518"/>
              <a:chExt cx="2759868" cy="519588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886700" y="2247900"/>
                <a:ext cx="342900" cy="342900"/>
              </a:xfrm>
              <a:prstGeom prst="ellipse">
                <a:avLst/>
              </a:prstGeom>
              <a:solidFill>
                <a:srgbClr val="2F80ED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989024" y="23402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364855" y="22355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发现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367712" y="25265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定位延迟天数集中区间和异常尾部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17" name="Line 17"/>
            <p:cNvSpPr/>
            <p:nvPr/>
          </p:nvSpPr>
          <p:spPr>
            <a:xfrm>
              <a:off x="8058150" y="26860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D6E0EA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886700" y="3264218"/>
              <a:ext cx="2759868" cy="519588"/>
              <a:chOff x="7886700" y="3264218"/>
              <a:chExt cx="2759868" cy="51958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886700" y="3276600"/>
                <a:ext cx="342900" cy="342900"/>
              </a:xfrm>
              <a:prstGeom prst="ellipse">
                <a:avLst/>
              </a:prstGeom>
              <a:solidFill>
                <a:srgbClr val="00A6A6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989024" y="33689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64855" y="32642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解释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67712" y="35552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联动卖家、州别、品类和运费字段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8058150" y="37147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19050">
              <a:solidFill>
                <a:srgbClr val="D6E0EA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886700" y="4292918"/>
              <a:ext cx="2609850" cy="519588"/>
              <a:chOff x="7886700" y="4292918"/>
              <a:chExt cx="2609850" cy="519588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886700" y="4305300"/>
                <a:ext cx="342900" cy="342900"/>
              </a:xfrm>
              <a:prstGeom prst="ellipse">
                <a:avLst/>
              </a:prstGeom>
              <a:solidFill>
                <a:srgbClr val="F2994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989024" y="43976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364855" y="42929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干预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67712" y="458390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生成优先级、阈值和负责人建议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4457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评分与品类热力图帮助定位服务质量优先级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54239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核心结论：把“哪些品类更容易低评分”转化为客服、履约和卖家治理排序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33400" y="1428750"/>
            <a:ext cx="6705600" cy="4762500"/>
            <a:chOff x="533400" y="1428750"/>
            <a:chExt cx="6705600" cy="4762500"/>
          </a:xfrm>
        </p:grpSpPr>
        <p:sp>
          <p:nvSpPr>
            <p:cNvPr id="7" name="Rectangle 7"/>
            <p:cNvSpPr/>
            <p:nvPr/>
          </p:nvSpPr>
          <p:spPr>
            <a:xfrm>
              <a:off x="533400" y="1428750"/>
              <a:ext cx="67056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92602" y="1666875"/>
              <a:ext cx="5787196" cy="4286250"/>
            </a:xfrm>
            <a:prstGeom prst="rect">
              <a:avLst/>
            </a:prstGeom>
          </p:spPr>
        </p:pic>
      </p:grpSp>
      <p:grpSp>
        <p:nvGrpSpPr>
          <p:cNvPr id="27" name="Group 27"/>
          <p:cNvGrpSpPr/>
          <p:nvPr/>
        </p:nvGrpSpPr>
        <p:grpSpPr>
          <a:xfrm>
            <a:off x="7562850" y="1428750"/>
            <a:ext cx="3962400" cy="4762500"/>
            <a:chOff x="7562850" y="1428750"/>
            <a:chExt cx="3962400" cy="4762500"/>
          </a:xfrm>
        </p:grpSpPr>
        <p:sp>
          <p:nvSpPr>
            <p:cNvPr id="10" name="Rectangle 10"/>
            <p:cNvSpPr/>
            <p:nvPr/>
          </p:nvSpPr>
          <p:spPr>
            <a:xfrm>
              <a:off x="7562850" y="1428750"/>
              <a:ext cx="3962400" cy="4762500"/>
            </a:xfrm>
            <a:prstGeom prst="roundRect">
              <a:avLst>
                <a:gd name="adj" fmla="val 3365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46695" y="17364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经营解释框架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867650" y="2228850"/>
              <a:ext cx="3143250" cy="723900"/>
              <a:chOff x="7867650" y="2228850"/>
              <a:chExt cx="3143250" cy="7239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867650" y="2228850"/>
                <a:ext cx="314325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C62828">
                  <a:alpha val="8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079105" y="237839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低评分品类</a:t>
                </a:r>
                <a:endParaRPr lang="zh-CN" sz="135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081962" y="265985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优先检查破损、延迟、描述不符问题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867650" y="3143250"/>
              <a:ext cx="3143250" cy="723900"/>
              <a:chOff x="7867650" y="3143250"/>
              <a:chExt cx="3143250" cy="7239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867650" y="3143250"/>
                <a:ext cx="314325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2E7D32">
                  <a:alpha val="8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079105" y="329279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高评分品类</a:t>
                </a:r>
                <a:endParaRPr lang="zh-CN" sz="1350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81962" y="357425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适合作为复购、推荐和供给扩张抓手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67650" y="4057650"/>
              <a:ext cx="3143250" cy="723900"/>
              <a:chOff x="7867650" y="4057650"/>
              <a:chExt cx="3143250" cy="723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867650" y="4057650"/>
                <a:ext cx="3143250" cy="723900"/>
              </a:xfrm>
              <a:prstGeom prst="roundRect">
                <a:avLst>
                  <a:gd name="adj" fmla="val 13158"/>
                </a:avLst>
              </a:prstGeom>
              <a:solidFill>
                <a:srgbClr val="2F80ED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079105" y="420719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异常交叉点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081962" y="4488656"/>
                <a:ext cx="21288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继续追问到订单明细和卖家维度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7867650" y="5095875"/>
              <a:ext cx="3181350" cy="9525"/>
            </a:xfrm>
            <a:custGeom>
              <a:avLst/>
              <a:gdLst/>
              <a:ahLst/>
              <a:cxnLst/>
              <a:rect l="l" t="t" r="r" b="b"/>
              <a:pathLst>
                <a:path w="3181350" h="9525">
                  <a:moveTo>
                    <a:pt x="0" y="0"/>
                  </a:moveTo>
                  <a:lnTo>
                    <a:pt x="3181350" y="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7012" y="541956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同一张图既服务业务解释，也服务后续追问。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748748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加分能力：What-if 推演与异常检测增强决策深度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69697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核心结论：系统可以回答“发生了什么”，也能进一步支持“如果这样做会怎样”和“哪里不正常”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504950"/>
            <a:ext cx="5181600" cy="4038600"/>
            <a:chOff x="609600" y="1504950"/>
            <a:chExt cx="5181600" cy="403860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5181600" cy="40386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57250" y="1809750"/>
              <a:ext cx="533400" cy="533400"/>
            </a:xfrm>
            <a:prstGeom prst="ellipse">
              <a:avLst/>
            </a:prstGeom>
            <a:solidFill>
              <a:srgbClr val="2F80ED">
                <a:alpha val="14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019175" y="1971675"/>
              <a:ext cx="247650" cy="209550"/>
            </a:xfrm>
            <a:custGeom>
              <a:avLst/>
              <a:gdLst/>
              <a:ahLst/>
              <a:cxnLst/>
              <a:rect l="l" t="t" r="r" b="b"/>
              <a:pathLst>
                <a:path w="247650" h="209550">
                  <a:moveTo>
                    <a:pt x="0" y="114300"/>
                  </a:moveTo>
                  <a:lnTo>
                    <a:pt x="95250" y="209550"/>
                  </a:lnTo>
                  <a:lnTo>
                    <a:pt x="247650" y="0"/>
                  </a:lnTo>
                </a:path>
              </a:pathLst>
            </a:custGeom>
            <a:noFill/>
            <a:ln w="38100" cap="rnd">
              <a:solidFill>
                <a:srgbClr val="2F80ED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01140" y="1815465"/>
              <a:ext cx="158311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What-if 推演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8760" y="21945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面向业务策略变化的轻量模拟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895350" y="27051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90600" y="3105150"/>
              <a:ext cx="4514850" cy="666750"/>
              <a:chOff x="990600" y="3105150"/>
              <a:chExt cx="4514850" cy="666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90600" y="3105150"/>
                <a:ext cx="1257300" cy="666750"/>
              </a:xfrm>
              <a:prstGeom prst="roundRect">
                <a:avLst>
                  <a:gd name="adj" fmla="val 14286"/>
                </a:avLst>
              </a:prstGeom>
              <a:solidFill>
                <a:srgbClr val="2F80ED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46013" y="3243739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输入假设</a:t>
                </a:r>
                <a:endParaRPr lang="zh-CN" sz="1275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08853" y="3515678"/>
                <a:ext cx="102079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价格/运费/分期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2343150" y="3438525"/>
                <a:ext cx="514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9525">
                    <a:moveTo>
                      <a:pt x="0" y="0"/>
                    </a:moveTo>
                    <a:lnTo>
                      <a:pt x="51435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762250" y="3381375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moveTo>
                      <a:pt x="95250" y="5715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 cap="rnd">
                <a:solidFill>
                  <a:srgbClr val="94A3B8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971800" y="3105150"/>
                <a:ext cx="1257300" cy="666750"/>
              </a:xfrm>
              <a:prstGeom prst="roundRect">
                <a:avLst>
                  <a:gd name="adj" fmla="val 14286"/>
                </a:avLst>
              </a:prstGeom>
              <a:solidFill>
                <a:srgbClr val="00A6A6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3227213" y="3243739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套用模型</a:t>
                </a:r>
                <a:endParaRPr lang="zh-CN" sz="1275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097054" y="351567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规则与聚合视图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4324350" y="3438525"/>
                <a:ext cx="514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9525">
                    <a:moveTo>
                      <a:pt x="0" y="0"/>
                    </a:moveTo>
                    <a:lnTo>
                      <a:pt x="514350" y="0"/>
                    </a:lnTo>
                  </a:path>
                </a:pathLst>
              </a:custGeom>
              <a:noFill/>
              <a:ln w="19050">
                <a:solidFill>
                  <a:srgbClr val="94A3B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43450" y="3381375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moveTo>
                      <a:pt x="95250" y="5715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 cap="rnd">
                <a:solidFill>
                  <a:srgbClr val="94A3B8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953000" y="3105150"/>
                <a:ext cx="552450" cy="666750"/>
              </a:xfrm>
              <a:prstGeom prst="roundRect">
                <a:avLst>
                  <a:gd name="adj" fmla="val 17241"/>
                </a:avLst>
              </a:prstGeom>
              <a:solidFill>
                <a:srgbClr val="F2994A">
                  <a:alpha val="14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034510" y="3253264"/>
                <a:ext cx="389430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</a:t>
                </a:r>
                <a:endParaRPr lang="zh-CN" sz="1275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75872" y="35156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影响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976312" y="4526756"/>
              <a:ext cx="36965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如果免息分期覆盖高客单品类，转化和 GMV 如何变化？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6312" y="4812506"/>
              <a:ext cx="3231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用同一套 Agent 编排返回表格、解释和可视化。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400800" y="1504950"/>
            <a:ext cx="5181600" cy="4038600"/>
            <a:chOff x="6400800" y="1504950"/>
            <a:chExt cx="5181600" cy="4038600"/>
          </a:xfrm>
        </p:grpSpPr>
        <p:sp>
          <p:nvSpPr>
            <p:cNvPr id="31" name="Rectangle 31"/>
            <p:cNvSpPr/>
            <p:nvPr/>
          </p:nvSpPr>
          <p:spPr>
            <a:xfrm>
              <a:off x="6400800" y="1504950"/>
              <a:ext cx="5181600" cy="4038600"/>
            </a:xfrm>
            <a:prstGeom prst="roundRect">
              <a:avLst>
                <a:gd name="adj" fmla="val 3774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648450" y="1809750"/>
              <a:ext cx="533400" cy="533400"/>
            </a:xfrm>
            <a:prstGeom prst="ellipse">
              <a:avLst/>
            </a:prstGeom>
            <a:solidFill>
              <a:srgbClr val="C62828">
                <a:alpha val="10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705600" y="1914525"/>
              <a:ext cx="419100" cy="352425"/>
            </a:xfrm>
            <a:custGeom>
              <a:avLst/>
              <a:gdLst/>
              <a:ahLst/>
              <a:cxnLst/>
              <a:rect l="l" t="t" r="r" b="b"/>
              <a:pathLst>
                <a:path w="419100" h="352425">
                  <a:moveTo>
                    <a:pt x="209550" y="0"/>
                  </a:moveTo>
                  <a:lnTo>
                    <a:pt x="419100" y="352425"/>
                  </a:lnTo>
                  <a:lnTo>
                    <a:pt x="0" y="352425"/>
                  </a:lnTo>
                  <a:close/>
                </a:path>
              </a:pathLst>
            </a:custGeom>
            <a:noFill/>
            <a:ln w="28575">
              <a:solidFill>
                <a:srgbClr val="C62828"/>
              </a:solidFill>
              <a:round/>
            </a:ln>
          </p:spPr>
        </p:sp>
        <p:sp>
          <p:nvSpPr>
            <p:cNvPr id="34" name="Line 34"/>
            <p:cNvSpPr/>
            <p:nvPr/>
          </p:nvSpPr>
          <p:spPr>
            <a:xfrm>
              <a:off x="6915150" y="201930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28575" cap="rnd">
              <a:solidFill>
                <a:srgbClr val="C6282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888480" y="2183130"/>
              <a:ext cx="53340" cy="53340"/>
            </a:xfrm>
            <a:prstGeom prst="ellipse">
              <a:avLst/>
            </a:prstGeom>
            <a:solidFill>
              <a:srgbClr val="C6282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292340" y="1815465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异常检测</a:t>
              </a:r>
              <a:endParaRPr lang="zh-CN" sz="18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99960" y="21945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面向订单、卖家和配送指标的风险提示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6686550" y="27051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781800" y="3105150"/>
              <a:ext cx="4438650" cy="990600"/>
              <a:chOff x="6781800" y="3105150"/>
              <a:chExt cx="4438650" cy="9906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6781800" y="3105150"/>
                <a:ext cx="1314450" cy="990600"/>
              </a:xfrm>
              <a:prstGeom prst="roundRect">
                <a:avLst>
                  <a:gd name="adj" fmla="val 9615"/>
                </a:avLst>
              </a:prstGeom>
              <a:solidFill>
                <a:srgbClr val="C62828">
                  <a:alpha val="8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043833" y="3302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C6282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延迟尾部</a:t>
                </a:r>
                <a:endParaRPr lang="zh-CN" sz="1350" b="1" dirty="0">
                  <a:solidFill>
                    <a:srgbClr val="C6282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075646" y="362997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超阈值订单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8343900" y="3105150"/>
                <a:ext cx="1314450" cy="990600"/>
              </a:xfrm>
              <a:prstGeom prst="roundRect">
                <a:avLst>
                  <a:gd name="adj" fmla="val 9615"/>
                </a:avLst>
              </a:prstGeom>
              <a:solidFill>
                <a:srgbClr val="F2994A">
                  <a:alpha val="14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605933" y="3302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2994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运费异常</a:t>
                </a:r>
                <a:endParaRPr lang="zh-CN" sz="135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567738" y="3629978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重量体积偏离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9906000" y="3105150"/>
                <a:ext cx="1314450" cy="990600"/>
              </a:xfrm>
              <a:prstGeom prst="roundRect">
                <a:avLst>
                  <a:gd name="adj" fmla="val 9615"/>
                </a:avLst>
              </a:prstGeom>
              <a:solidFill>
                <a:srgbClr val="2F80ED">
                  <a:alpha val="10000"/>
                </a:srgbClr>
              </a:solidFill>
              <a:ln w="9525">
                <a:solidFill>
                  <a:srgbClr val="D6E0EA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168033" y="3302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评分下滑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059829" y="3629978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品类或卖家聚集</a:t>
                </a:r>
                <a:endParaRPr lang="zh-CN" sz="105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9" name="TextBox 49"/>
            <p:cNvSpPr txBox="1"/>
            <p:nvPr/>
          </p:nvSpPr>
          <p:spPr>
            <a:xfrm>
              <a:off x="6764655" y="4483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落地价值</a:t>
              </a:r>
              <a:endParaRPr lang="zh-CN" sz="13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67512" y="4812506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把异常点作为下一轮追问入口，缩短从发现到处理的路径。</a:t>
              </a:r>
              <a:endParaRPr lang="zh-CN" sz="1125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44295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可视化覆盖四类核心经营视角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2F80ED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69697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核心结论：Dashboard Agent 自动选择图形，让概览类图表和诊断类散点图同时服务业务追问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2450" y="1428750"/>
            <a:ext cx="4286250" cy="4686300"/>
            <a:chOff x="552450" y="1428750"/>
            <a:chExt cx="4286250" cy="4686300"/>
          </a:xfrm>
        </p:grpSpPr>
        <p:sp>
          <p:nvSpPr>
            <p:cNvPr id="7" name="Rectangle 7"/>
            <p:cNvSpPr/>
            <p:nvPr/>
          </p:nvSpPr>
          <p:spPr>
            <a:xfrm>
              <a:off x="552450" y="1428750"/>
              <a:ext cx="4286250" cy="4686300"/>
            </a:xfrm>
            <a:prstGeom prst="roundRect">
              <a:avLst>
                <a:gd name="adj" fmla="val 3111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8195" y="16506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概览视角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19150" y="2095500"/>
              <a:ext cx="3614738" cy="1200150"/>
              <a:chOff x="819150" y="2095500"/>
              <a:chExt cx="3614738" cy="12001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19150" y="2095500"/>
                <a:ext cx="169545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F7F9FB"/>
              </a:solidFill>
              <a:ln w="9525">
                <a:solidFill>
                  <a:srgbClr val="D6E0EA"/>
                </a:solidFill>
              </a:ln>
            </p:spPr>
          </p:sp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160145" y="2343150"/>
                <a:ext cx="1013460" cy="7239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2603182" y="2415064"/>
                <a:ext cx="77325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州别 GMV</a:t>
                </a:r>
                <a:endParaRPr lang="zh-CN" sz="127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05088" y="271700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识别重点市场和区域集中度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19150" y="3524250"/>
              <a:ext cx="3464719" cy="1200150"/>
              <a:chOff x="819150" y="3524250"/>
              <a:chExt cx="3464719" cy="12001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19150" y="3524250"/>
                <a:ext cx="1695450" cy="1200150"/>
              </a:xfrm>
              <a:prstGeom prst="roundRect">
                <a:avLst>
                  <a:gd name="adj" fmla="val 6349"/>
                </a:avLst>
              </a:prstGeom>
              <a:solidFill>
                <a:srgbClr val="F7F9FB"/>
              </a:solidFill>
              <a:ln w="9525">
                <a:solidFill>
                  <a:srgbClr val="D6E0EA"/>
                </a:solidFill>
              </a:ln>
            </p:spPr>
          </p:sp>
          <p:pic>
            <p:nvPicPr>
              <p:cNvPr id="15" name="Image 1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60145" y="3771900"/>
                <a:ext cx="1013460" cy="723900"/>
              </a:xfrm>
              <a:prstGeom prst="rect">
                <a:avLst/>
              </a:prstGeom>
            </p:spPr>
          </p:pic>
          <p:sp>
            <p:nvSpPr>
              <p:cNvPr id="16" name="TextBox 16"/>
              <p:cNvSpPr txBox="1"/>
              <p:nvPr/>
            </p:nvSpPr>
            <p:spPr>
              <a:xfrm>
                <a:off x="2603182" y="38438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品类销售</a:t>
                </a:r>
                <a:endParaRPr lang="zh-CN" sz="127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05088" y="414575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判断供给结构和头部品类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19150" y="4953000"/>
              <a:ext cx="3014663" cy="838200"/>
              <a:chOff x="819150" y="4953000"/>
              <a:chExt cx="3014663" cy="8382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19150" y="4953000"/>
                <a:ext cx="1695450" cy="838200"/>
              </a:xfrm>
              <a:prstGeom prst="roundRect">
                <a:avLst>
                  <a:gd name="adj" fmla="val 9091"/>
                </a:avLst>
              </a:prstGeom>
              <a:solidFill>
                <a:srgbClr val="F7F9FB"/>
              </a:solidFill>
              <a:ln w="9525">
                <a:solidFill>
                  <a:srgbClr val="D6E0EA"/>
                </a:solidFill>
              </a:ln>
            </p:spPr>
          </p:sp>
          <p:pic>
            <p:nvPicPr>
              <p:cNvPr id="20" name="Image 2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0165" y="5124450"/>
                <a:ext cx="693420" cy="495300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2603182" y="517731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732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州别客单价</a:t>
                </a:r>
                <a:endParaRPr lang="zh-CN" sz="1275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605088" y="547925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比较区域价值差异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5200650" y="1428750"/>
            <a:ext cx="6438900" cy="4686300"/>
            <a:chOff x="5200650" y="1428750"/>
            <a:chExt cx="6438900" cy="4686300"/>
          </a:xfrm>
        </p:grpSpPr>
        <p:sp>
          <p:nvSpPr>
            <p:cNvPr id="25" name="Rectangle 25"/>
            <p:cNvSpPr/>
            <p:nvPr/>
          </p:nvSpPr>
          <p:spPr>
            <a:xfrm>
              <a:off x="5200650" y="1428750"/>
              <a:ext cx="6438900" cy="4686300"/>
            </a:xfrm>
            <a:prstGeom prst="roundRect">
              <a:avLst>
                <a:gd name="adj" fmla="val 2846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03545" y="16506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诊断视角：重量体积与运费</a:t>
              </a:r>
              <a:endParaRPr lang="zh-CN" sz="16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10212" y="2012156"/>
              <a:ext cx="4079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散点图用于发现物流成本中的离群点、聚类和异常收费关系。</a:t>
              </a:r>
              <a:endParaRPr lang="zh-CN" sz="1125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62336" y="2400300"/>
              <a:ext cx="3515527" cy="314325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5524500" y="5676900"/>
              <a:ext cx="5657850" cy="266700"/>
            </a:xfrm>
            <a:prstGeom prst="roundRect">
              <a:avLst>
                <a:gd name="adj" fmla="val 28571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0141" y="5754052"/>
              <a:ext cx="36065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从概览排名进入异常诊断，是可视化 Agent 的核心价值</a:t>
              </a:r>
              <a:endParaRPr lang="zh-CN" sz="10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57736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项目复盘：三个挑战对应三类工程修正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F2994A">
                <a:alpha val="14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54071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核心结论：我们把性能、歧义和展示一致性问题转化为可复用的工程机制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1466850"/>
            <a:ext cx="11049000" cy="4629150"/>
            <a:chOff x="571500" y="1466850"/>
            <a:chExt cx="11049000" cy="4629150"/>
          </a:xfrm>
        </p:grpSpPr>
        <p:sp>
          <p:nvSpPr>
            <p:cNvPr id="7" name="Rectangle 7"/>
            <p:cNvSpPr/>
            <p:nvPr/>
          </p:nvSpPr>
          <p:spPr>
            <a:xfrm>
              <a:off x="571500" y="1466850"/>
              <a:ext cx="11049000" cy="4629150"/>
            </a:xfrm>
            <a:prstGeom prst="roundRect">
              <a:avLst>
                <a:gd name="adj" fmla="val 2881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66850"/>
              <a:ext cx="11049000" cy="552450"/>
            </a:xfrm>
            <a:prstGeom prst="roundRect">
              <a:avLst>
                <a:gd name="adj" fmla="val 24138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7755" y="16640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挑战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12005" y="1664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处理方式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8705" y="16640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3962400" y="1466850"/>
              <a:ext cx="9525" cy="4629150"/>
            </a:xfrm>
            <a:custGeom>
              <a:avLst/>
              <a:gdLst/>
              <a:ahLst/>
              <a:cxnLst/>
              <a:rect l="l" t="t" r="r" b="b"/>
              <a:pathLst>
                <a:path w="9525" h="4629150">
                  <a:moveTo>
                    <a:pt x="0" y="0"/>
                  </a:moveTo>
                  <a:lnTo>
                    <a:pt x="0" y="462915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848600" y="1466850"/>
              <a:ext cx="9525" cy="4629150"/>
            </a:xfrm>
            <a:custGeom>
              <a:avLst/>
              <a:gdLst/>
              <a:ahLst/>
              <a:cxnLst/>
              <a:rect l="l" t="t" r="r" b="b"/>
              <a:pathLst>
                <a:path w="9525" h="4629150">
                  <a:moveTo>
                    <a:pt x="0" y="0"/>
                  </a:moveTo>
                  <a:lnTo>
                    <a:pt x="0" y="462915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1500" y="3371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71500" y="47434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6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62000" y="2359342"/>
              <a:ext cx="9394626" cy="548164"/>
              <a:chOff x="762000" y="2359342"/>
              <a:chExt cx="9394626" cy="54816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62000" y="2533650"/>
                <a:ext cx="304800" cy="304800"/>
              </a:xfrm>
              <a:prstGeom prst="ellipse">
                <a:avLst/>
              </a:prstGeom>
              <a:solidFill>
                <a:srgbClr val="C62828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90575" y="2571750"/>
                <a:ext cx="24765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19075">
                    <a:moveTo>
                      <a:pt x="123825" y="0"/>
                    </a:moveTo>
                    <a:lnTo>
                      <a:pt x="247650" y="219075"/>
                    </a:lnTo>
                    <a:lnTo>
                      <a:pt x="0" y="219075"/>
                    </a:lnTo>
                    <a:close/>
                  </a:path>
                </a:pathLst>
              </a:custGeom>
              <a:noFill/>
              <a:ln w="22860">
                <a:solidFill>
                  <a:srgbClr val="C62828"/>
                </a:solidFill>
                <a:round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183005" y="23593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明细表直接查询慢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85862" y="2678906"/>
                <a:ext cx="219634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自然语言问答容易触发多表 JOIN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326255" y="2359342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预聚合视图与刷新脚本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329112" y="2678906"/>
                <a:ext cx="197881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把高频指标沉淀为 mv_* 视图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212455" y="235934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速度显著提升</a:t>
                </a:r>
                <a:endParaRPr lang="zh-CN" sz="1350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15312" y="2678906"/>
                <a:ext cx="19413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答辩中可展示 benchmark 图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62000" y="3730942"/>
              <a:ext cx="9282112" cy="548164"/>
              <a:chOff x="762000" y="3730942"/>
              <a:chExt cx="9282112" cy="548164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762000" y="3905250"/>
                <a:ext cx="304800" cy="304800"/>
              </a:xfrm>
              <a:prstGeom prst="ellipse">
                <a:avLst/>
              </a:prstGeom>
              <a:solidFill>
                <a:srgbClr val="F2994A">
                  <a:alpha val="18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28675" y="39719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lnTo>
                      <a:pt x="171450" y="85725"/>
                    </a:lnTo>
                    <a:moveTo>
                      <a:pt x="85725" y="0"/>
                    </a:moveTo>
                    <a:lnTo>
                      <a:pt x="85725" y="171450"/>
                    </a:lnTo>
                  </a:path>
                </a:pathLst>
              </a:custGeom>
              <a:solidFill>
                <a:srgbClr val="000000"/>
              </a:solidFill>
              <a:ln w="22860" cap="rnd">
                <a:solidFill>
                  <a:srgbClr val="F2994A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83005" y="37309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业务问题存在歧义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85862" y="4050506"/>
                <a:ext cx="27514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同一句话可能同时需要 SQL、图表和解释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26255" y="3730942"/>
                <a:ext cx="19434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0A6A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Coordinator 状态编排</a:t>
                </a:r>
                <a:endParaRPr lang="zh-CN" sz="13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329112" y="4050506"/>
                <a:ext cx="32164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以 intent、context、artifacts 组织多 Agent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212455" y="3730942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追问链路更稳定</a:t>
                </a:r>
                <a:endParaRPr lang="zh-CN" sz="1350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215312" y="4050506"/>
                <a:ext cx="18288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支持上下文记忆和多轮补充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62000" y="5102542"/>
              <a:ext cx="9829680" cy="548164"/>
              <a:chOff x="762000" y="5102542"/>
              <a:chExt cx="9829680" cy="548164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762000" y="5276850"/>
                <a:ext cx="304800" cy="304800"/>
              </a:xfrm>
              <a:prstGeom prst="ellipse">
                <a:avLst/>
              </a:prstGeom>
              <a:solidFill>
                <a:srgbClr val="2F80ED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828675" y="5343525"/>
                <a:ext cx="171450" cy="171450"/>
              </a:xfrm>
              <a:prstGeom prst="roundRect">
                <a:avLst>
                  <a:gd name="adj" fmla="val 16667"/>
                </a:avLst>
              </a:prstGeom>
              <a:noFill/>
              <a:ln w="20955">
                <a:solidFill>
                  <a:srgbClr val="2F80ED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66775" y="54102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95250" y="47625"/>
                    </a:lnTo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2F80ED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183005" y="51025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图表类型需要可控</a:t>
                </a:r>
                <a:endParaRPr lang="zh-CN" sz="1350" b="1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85862" y="54221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不同问题需要不同图形和导出资产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26255" y="5102542"/>
                <a:ext cx="22080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F80E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Visualization Agent 规则</a:t>
                </a:r>
                <a:endParaRPr lang="zh-CN" sz="13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329112" y="542210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封装柱图、热力图、散点图和保存路径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212455" y="5102542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E7D3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演示素材可复现</a:t>
                </a:r>
                <a:endParaRPr lang="zh-CN" sz="1350" b="1" dirty="0">
                  <a:solidFill>
                    <a:srgbClr val="2E7D3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15312" y="5422106"/>
                <a:ext cx="237636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2677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报告、PPT、讲稿可引用同一批产物</a:t>
                </a:r>
                <a:endParaRPr lang="zh-CN" sz="1125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45770" y="293370"/>
            <a:ext cx="11269980" cy="887730"/>
            <a:chOff x="445770" y="293370"/>
            <a:chExt cx="11269980" cy="887730"/>
          </a:xfrm>
        </p:grpSpPr>
        <p:sp>
          <p:nvSpPr>
            <p:cNvPr id="3" name="TextBox 3"/>
            <p:cNvSpPr txBox="1"/>
            <p:nvPr/>
          </p:nvSpPr>
          <p:spPr>
            <a:xfrm>
              <a:off x="445770" y="293370"/>
              <a:ext cx="659697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后续三个月：从课程原型走向可持续 BI 助手</a:t>
              </a:r>
              <a:endParaRPr lang="zh-CN" sz="24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Rectangle 4"/>
            <p:cNvSpPr/>
            <p:nvPr/>
          </p:nvSpPr>
          <p:spPr>
            <a:xfrm>
              <a:off x="476250" y="781050"/>
              <a:ext cx="11239500" cy="400050"/>
            </a:xfrm>
            <a:prstGeom prst="roundRect">
              <a:avLst>
                <a:gd name="adj" fmla="val 19048"/>
              </a:avLst>
            </a:prstGeom>
            <a:solidFill>
              <a:srgbClr val="00A6A6">
                <a:alpha val="10000"/>
              </a:srgbClr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1510" y="908685"/>
              <a:ext cx="64152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核心结论：下一步重点不是堆功能，而是提升数据新鲜度、智能稳健性和业务闭环能力</a:t>
              </a:r>
              <a:endParaRPr lang="zh-CN" sz="12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24000" y="3028950"/>
            <a:ext cx="9144000" cy="457200"/>
            <a:chOff x="1524000" y="3028950"/>
            <a:chExt cx="9144000" cy="457200"/>
          </a:xfrm>
        </p:grpSpPr>
        <p:sp>
          <p:nvSpPr>
            <p:cNvPr id="7" name="Line 7"/>
            <p:cNvSpPr/>
            <p:nvPr/>
          </p:nvSpPr>
          <p:spPr>
            <a:xfrm>
              <a:off x="1524000" y="32575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 cap="rnd">
              <a:solidFill>
                <a:srgbClr val="D6E0E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019300" y="3028950"/>
              <a:ext cx="457200" cy="457200"/>
            </a:xfrm>
            <a:prstGeom prst="ellipse">
              <a:avLst/>
            </a:prstGeom>
            <a:solidFill>
              <a:srgbClr val="2F80ED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867400" y="3028950"/>
              <a:ext cx="457200" cy="457200"/>
            </a:xfrm>
            <a:prstGeom prst="ellipse">
              <a:avLst/>
            </a:prstGeom>
            <a:solidFill>
              <a:srgbClr val="00A6A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715500" y="3028950"/>
              <a:ext cx="457200" cy="457200"/>
            </a:xfrm>
            <a:prstGeom prst="ellipse">
              <a:avLst/>
            </a:prstGeom>
            <a:solidFill>
              <a:srgbClr val="F2994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71093" y="31718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9193" y="31718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67293" y="3171825"/>
              <a:ext cx="1536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1638300"/>
            <a:ext cx="3162300" cy="1390650"/>
            <a:chOff x="666750" y="1638300"/>
            <a:chExt cx="3162300" cy="1390650"/>
          </a:xfrm>
        </p:grpSpPr>
        <p:sp>
          <p:nvSpPr>
            <p:cNvPr id="15" name="Rectangle 15"/>
            <p:cNvSpPr/>
            <p:nvPr/>
          </p:nvSpPr>
          <p:spPr>
            <a:xfrm>
              <a:off x="666750" y="1638300"/>
              <a:ext cx="3162300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1545" y="186023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80E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月：数据层</a:t>
              </a:r>
              <a:endParaRPr lang="zh-CN" sz="1650" b="1" dirty="0">
                <a:solidFill>
                  <a:srgbClr val="2F80E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7260" y="22326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补充增量刷新、数据质量检查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7260" y="25184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交付物：自动刷新日志和质量看板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47900" y="2914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2F80ED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514850" y="3486150"/>
            <a:ext cx="3162300" cy="1428750"/>
            <a:chOff x="4514850" y="3486150"/>
            <a:chExt cx="31623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4514850" y="3638550"/>
              <a:ext cx="3162300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096000" y="34861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00A6A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79645" y="386048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A6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2 月：智能层</a:t>
              </a:r>
              <a:endParaRPr lang="zh-CN" sz="1650" b="1" dirty="0">
                <a:solidFill>
                  <a:srgbClr val="00A6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5360" y="42329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完善意图识别、追问澄清和失败回退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85360" y="451866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交付物：问题集评测与稳定性报告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62950" y="1638300"/>
            <a:ext cx="3162300" cy="1390650"/>
            <a:chOff x="8362950" y="1638300"/>
            <a:chExt cx="3162300" cy="1390650"/>
          </a:xfrm>
        </p:grpSpPr>
        <p:sp>
          <p:nvSpPr>
            <p:cNvPr id="27" name="Rectangle 27"/>
            <p:cNvSpPr/>
            <p:nvPr/>
          </p:nvSpPr>
          <p:spPr>
            <a:xfrm>
              <a:off x="8362950" y="1638300"/>
              <a:ext cx="3162300" cy="1276350"/>
            </a:xfrm>
            <a:prstGeom prst="roundRect">
              <a:avLst>
                <a:gd name="adj" fmla="val 10448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27745" y="186023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299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3 月：业务层</a:t>
              </a:r>
              <a:endParaRPr lang="zh-CN" sz="1650" b="1" dirty="0">
                <a:solidFill>
                  <a:srgbClr val="F299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33460" y="223266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把建议转成任务清单和复盘指标</a:t>
              </a:r>
              <a:endParaRPr lang="zh-CN" sz="1200" dirty="0">
                <a:solidFill>
                  <a:srgbClr val="1F29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33460" y="25184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交付物：运营干预闭环模板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Freeform 31"/>
            <p:cNvSpPr/>
            <p:nvPr/>
          </p:nvSpPr>
          <p:spPr>
            <a:xfrm>
              <a:off x="9944100" y="2914650"/>
              <a:ext cx="9525" cy="114300"/>
            </a:xfrm>
            <a:custGeom>
              <a:avLst/>
              <a:gdLst/>
              <a:ahLst/>
              <a:cxnLst/>
              <a:rect l="l" t="t" r="r" b="b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F2994A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2381250" y="5505450"/>
            <a:ext cx="7429500" cy="514350"/>
            <a:chOff x="2381250" y="5505450"/>
            <a:chExt cx="7429500" cy="514350"/>
          </a:xfrm>
        </p:grpSpPr>
        <p:sp>
          <p:nvSpPr>
            <p:cNvPr id="33" name="Rectangle 33"/>
            <p:cNvSpPr/>
            <p:nvPr/>
          </p:nvSpPr>
          <p:spPr>
            <a:xfrm>
              <a:off x="2381250" y="5505450"/>
              <a:ext cx="7429500" cy="514350"/>
            </a:xfrm>
            <a:prstGeom prst="roundRect">
              <a:avLst>
                <a:gd name="adj" fmla="val 22222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328561" y="5683568"/>
              <a:ext cx="55348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最终目标：让业务同学用自然语言完成“发现、解释、行动、复盘”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336655" y="6426200"/>
            <a:ext cx="3892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 / 18</a:t>
            </a:r>
            <a:endParaRPr lang="zh-CN" sz="825" dirty="0">
              <a:solidFill>
                <a:srgbClr val="94A3B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/>
      <p:bldP spid="26" grpId="0"/>
      <p:bldP spid="32" grpId="0"/>
      <p:bldP spid="3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2000250"/>
            <a:chOff x="0" y="0"/>
            <a:chExt cx="12192000" cy="20002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2000250"/>
            </a:xfrm>
            <a:prstGeom prst="rect">
              <a:avLst/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26745" y="555308"/>
              <a:ext cx="1079765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结论：Agentic BI 让 Olist 数据从“可查”走向“可行动”</a:t>
              </a:r>
              <a:endParaRPr lang="zh-CN" sz="31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1171575"/>
              <a:ext cx="71089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E0E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自然语言入口、预聚合视图、多 Agent 协作和可视化交付构成完整课程项目闭环</a:t>
              </a:r>
              <a:endParaRPr lang="zh-CN" sz="1500" dirty="0">
                <a:solidFill>
                  <a:srgbClr val="D6E0E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2495550"/>
            <a:ext cx="3067050" cy="3028950"/>
            <a:chOff x="666750" y="2495550"/>
            <a:chExt cx="3067050" cy="3028950"/>
          </a:xfrm>
        </p:grpSpPr>
        <p:sp>
          <p:nvSpPr>
            <p:cNvPr id="7" name="Rectangle 7"/>
            <p:cNvSpPr/>
            <p:nvPr/>
          </p:nvSpPr>
          <p:spPr>
            <a:xfrm>
              <a:off x="666750" y="2495550"/>
              <a:ext cx="30670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85825" y="2790825"/>
              <a:ext cx="361950" cy="361950"/>
            </a:xfrm>
            <a:prstGeom prst="ellipse">
              <a:avLst/>
            </a:prstGeom>
            <a:solidFill>
              <a:srgbClr val="2F80ED">
                <a:alpha val="14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71550" y="28765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95250" y="190500"/>
                  </a:lnTo>
                </a:path>
              </a:pathLst>
            </a:custGeom>
            <a:solidFill>
              <a:srgbClr val="000000"/>
            </a:solidFill>
            <a:ln w="22860" cap="rnd">
              <a:solidFill>
                <a:srgbClr val="2F80E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0650" y="2790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面向业务</a:t>
              </a:r>
              <a:endParaRPr lang="zh-CN" sz="15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7260" y="32423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销售、配送、支付、评分问题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7260" y="35090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可以被自然语言直接触达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6750" y="4171950"/>
              <a:ext cx="30670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6E0E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85825" y="4467225"/>
              <a:ext cx="361950" cy="361950"/>
            </a:xfrm>
            <a:prstGeom prst="ellipse">
              <a:avLst/>
            </a:prstGeom>
            <a:solidFill>
              <a:srgbClr val="00A6A6">
                <a:alpha val="14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71550" y="4581525"/>
              <a:ext cx="190500" cy="133350"/>
            </a:xfrm>
            <a:custGeom>
              <a:avLst/>
              <a:gdLst/>
              <a:ahLst/>
              <a:cxnLst/>
              <a:rect l="l" t="t" r="r" b="b"/>
              <a:pathLst>
                <a:path w="190500" h="133350">
                  <a:moveTo>
                    <a:pt x="0" y="133350"/>
                  </a:moveTo>
                  <a:lnTo>
                    <a:pt x="95250" y="0"/>
                  </a:lnTo>
                  <a:lnTo>
                    <a:pt x="190500" y="133350"/>
                  </a:lnTo>
                </a:path>
              </a:pathLst>
            </a:custGeom>
            <a:noFill/>
            <a:ln w="22860" cap="rnd">
              <a:solidFill>
                <a:srgbClr val="00A6A6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0650" y="44672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面向工程</a:t>
              </a:r>
              <a:endParaRPr lang="zh-CN" sz="150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7260" y="4918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状态编排、视图刷新、图表导出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7260" y="51854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保证演示和复现实验一致</a:t>
              </a:r>
              <a:endParaRPr lang="zh-CN" sz="1200" dirty="0">
                <a:solidFill>
                  <a:srgbClr val="52677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96513" y="5999798"/>
            <a:ext cx="7429714" cy="593883"/>
            <a:chOff x="4296513" y="5999798"/>
            <a:chExt cx="7429714" cy="593883"/>
          </a:xfrm>
        </p:grpSpPr>
        <p:sp>
          <p:nvSpPr>
            <p:cNvPr id="36" name="TextBox 36"/>
            <p:cNvSpPr txBox="1"/>
            <p:nvPr/>
          </p:nvSpPr>
          <p:spPr>
            <a:xfrm>
              <a:off x="4296513" y="5999798"/>
              <a:ext cx="35989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732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谢谢老师和同学们，欢迎提问</a:t>
              </a:r>
              <a:endParaRPr lang="zh-CN" sz="1950" b="1" dirty="0">
                <a:solidFill>
                  <a:srgbClr val="17324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36726" y="64260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94A3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 / 18</a:t>
              </a:r>
              <a:endParaRPr lang="zh-CN" sz="825" dirty="0">
                <a:solidFill>
                  <a:srgbClr val="94A3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3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2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3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4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5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6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7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8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9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ags/tag10.xml><?xml version="1.0" encoding="utf-8"?>
<p:tagLst xmlns:p="http://schemas.openxmlformats.org/presentationml/2006/main">
  <p:tag name="KSO_WM_DIAGRAM_VIRTUALLY_FRAME" val="{&quot;height&quot;:335.25,&quot;left&quot;:660,&quot;top&quot;:112.5,&quot;width&quot;:262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3740</Words>
  <Application>WPS 演示</Application>
  <PresentationFormat>On-screen Show (16:9)</PresentationFormat>
  <Paragraphs>554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马源胜</cp:lastModifiedBy>
  <cp:revision>2</cp:revision>
  <dcterms:created xsi:type="dcterms:W3CDTF">2026-06-13T07:22:00Z</dcterms:created>
  <dcterms:modified xsi:type="dcterms:W3CDTF">2026-06-13T08:14:37Z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430B542703FD415B976C5C76E45F594B_12</vt:lpwstr>
  </property>
</Properties>
</file>